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0465" y="1196032"/>
            <a:ext cx="10024110" cy="75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0493" y="4383108"/>
            <a:ext cx="8333105" cy="4083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hyperlink" Target="https://visionpIatform.ai/wp-content/uploads/2026/01/Control-room-with" TargetMode="External"/><Relationship Id="rId4" Type="http://schemas.openxmlformats.org/officeDocument/2006/relationships/image" Target="../media/image2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3690987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5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44266" y="3738494"/>
            <a:ext cx="561594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615">
                <a:solidFill>
                  <a:srgbClr val="3FAACA"/>
                </a:solidFill>
                <a:latin typeface="Arial"/>
                <a:cs typeface="Arial"/>
              </a:rPr>
              <a:t>NJ</a:t>
            </a:r>
            <a:r>
              <a:rPr dirty="0" sz="2050" spc="-130">
                <a:solidFill>
                  <a:srgbClr val="3FAACA"/>
                </a:solidFill>
                <a:latin typeface="Arial"/>
                <a:cs typeface="Arial"/>
              </a:rPr>
              <a:t> </a:t>
            </a:r>
            <a:r>
              <a:rPr dirty="0" sz="2050" spc="-315">
                <a:solidFill>
                  <a:srgbClr val="2379B1"/>
                </a:solidFill>
                <a:latin typeface="Arial"/>
                <a:cs typeface="Arial"/>
              </a:rPr>
              <a:t>E</a:t>
            </a:r>
            <a:r>
              <a:rPr dirty="0" sz="2050" spc="-55">
                <a:solidFill>
                  <a:srgbClr val="2379B1"/>
                </a:solidFill>
                <a:latin typeface="Arial"/>
                <a:cs typeface="Arial"/>
              </a:rPr>
              <a:t> </a:t>
            </a:r>
            <a:r>
              <a:rPr dirty="0" sz="2050" spc="-210">
                <a:solidFill>
                  <a:srgbClr val="00284B"/>
                </a:solidFill>
                <a:latin typeface="Arial"/>
                <a:cs typeface="Arial"/>
              </a:rPr>
              <a:t>X</a:t>
            </a:r>
            <a:r>
              <a:rPr dirty="0" sz="2050" spc="-170">
                <a:solidFill>
                  <a:srgbClr val="00284B"/>
                </a:solidFill>
                <a:latin typeface="Arial"/>
                <a:cs typeface="Arial"/>
              </a:rPr>
              <a:t> </a:t>
            </a:r>
            <a:r>
              <a:rPr dirty="0" sz="2050" spc="-150">
                <a:solidFill>
                  <a:srgbClr val="004D80"/>
                </a:solidFill>
                <a:latin typeface="Arial"/>
                <a:cs typeface="Arial"/>
              </a:rPr>
              <a:t>T </a:t>
            </a:r>
            <a:r>
              <a:rPr dirty="0" sz="2050" spc="-30">
                <a:solidFill>
                  <a:srgbClr val="0E4967"/>
                </a:solidFill>
                <a:latin typeface="Arial"/>
                <a:cs typeface="Arial"/>
              </a:rPr>
              <a:t>-</a:t>
            </a:r>
            <a:r>
              <a:rPr dirty="0" sz="2050" spc="-240">
                <a:solidFill>
                  <a:srgbClr val="0E4967"/>
                </a:solidFill>
                <a:latin typeface="Arial"/>
                <a:cs typeface="Arial"/>
              </a:rPr>
              <a:t> </a:t>
            </a:r>
            <a:r>
              <a:rPr dirty="0" sz="2050" spc="-185">
                <a:solidFill>
                  <a:srgbClr val="2D80A8"/>
                </a:solidFill>
                <a:latin typeface="Arial"/>
                <a:cs typeface="Arial"/>
              </a:rPr>
              <a:t>G</a:t>
            </a:r>
            <a:r>
              <a:rPr dirty="0" sz="2050" spc="-260">
                <a:solidFill>
                  <a:srgbClr val="2D80A8"/>
                </a:solidFill>
                <a:latin typeface="Arial"/>
                <a:cs typeface="Arial"/>
              </a:rPr>
              <a:t> </a:t>
            </a:r>
            <a:r>
              <a:rPr dirty="0" sz="2050" spc="-315">
                <a:solidFill>
                  <a:srgbClr val="2379A8"/>
                </a:solidFill>
                <a:latin typeface="Arial"/>
                <a:cs typeface="Arial"/>
              </a:rPr>
              <a:t>E</a:t>
            </a:r>
            <a:r>
              <a:rPr dirty="0" sz="2050" spc="-140">
                <a:solidFill>
                  <a:srgbClr val="2379A8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3DA7BF"/>
                </a:solidFill>
                <a:latin typeface="Arial"/>
                <a:cs typeface="Arial"/>
              </a:rPr>
              <a:t>N</a:t>
            </a:r>
            <a:r>
              <a:rPr dirty="0" sz="2050" spc="165">
                <a:solidFill>
                  <a:srgbClr val="3DA7BF"/>
                </a:solidFill>
                <a:latin typeface="Arial"/>
                <a:cs typeface="Arial"/>
              </a:rPr>
              <a:t> </a:t>
            </a:r>
            <a:r>
              <a:rPr dirty="0" sz="2050" spc="-185">
                <a:solidFill>
                  <a:srgbClr val="49ACE1"/>
                </a:solidFill>
                <a:latin typeface="Arial"/>
                <a:cs typeface="Arial"/>
              </a:rPr>
              <a:t>C</a:t>
            </a:r>
            <a:r>
              <a:rPr dirty="0" sz="2050" spc="-140">
                <a:solidFill>
                  <a:srgbClr val="49ACE1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67B9A"/>
                </a:solidFill>
                <a:latin typeface="Arial"/>
                <a:cs typeface="Arial"/>
              </a:rPr>
              <a:t>0</a:t>
            </a:r>
            <a:r>
              <a:rPr dirty="0" sz="2050" spc="140">
                <a:solidFill>
                  <a:srgbClr val="167B9A"/>
                </a:solidFill>
                <a:latin typeface="Arial"/>
                <a:cs typeface="Arial"/>
              </a:rPr>
              <a:t> </a:t>
            </a:r>
            <a:r>
              <a:rPr dirty="0" sz="2050" spc="-220">
                <a:solidFill>
                  <a:srgbClr val="56AFCD"/>
                </a:solidFill>
                <a:latin typeface="Arial"/>
                <a:cs typeface="Arial"/>
              </a:rPr>
              <a:t>iVl</a:t>
            </a:r>
            <a:r>
              <a:rPr dirty="0" sz="2050" spc="-135">
                <a:solidFill>
                  <a:srgbClr val="56AFCD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0C3F5E"/>
                </a:solidFill>
                <a:latin typeface="Arial"/>
                <a:cs typeface="Arial"/>
              </a:rPr>
              <a:t>M</a:t>
            </a:r>
            <a:r>
              <a:rPr dirty="0" sz="2050" spc="-245">
                <a:solidFill>
                  <a:srgbClr val="0C3F5E"/>
                </a:solidFill>
                <a:latin typeface="Arial"/>
                <a:cs typeface="Arial"/>
              </a:rPr>
              <a:t> </a:t>
            </a:r>
            <a:r>
              <a:rPr dirty="0" sz="2050" spc="-95">
                <a:solidFill>
                  <a:srgbClr val="1A7282"/>
                </a:solidFill>
                <a:latin typeface="Arial"/>
                <a:cs typeface="Arial"/>
              </a:rPr>
              <a:t>U</a:t>
            </a:r>
            <a:r>
              <a:rPr dirty="0" sz="2050" spc="-235">
                <a:solidFill>
                  <a:srgbClr val="1A7282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3DA7BF"/>
                </a:solidFill>
                <a:latin typeface="Arial"/>
                <a:cs typeface="Arial"/>
              </a:rPr>
              <a:t>N</a:t>
            </a:r>
            <a:r>
              <a:rPr dirty="0" sz="2050" spc="-160">
                <a:solidFill>
                  <a:srgbClr val="3DA7BF"/>
                </a:solidFill>
                <a:latin typeface="Arial"/>
                <a:cs typeface="Arial"/>
              </a:rPr>
              <a:t> </a:t>
            </a:r>
            <a:r>
              <a:rPr dirty="0" sz="2050" spc="-265">
                <a:solidFill>
                  <a:srgbClr val="49B3E6"/>
                </a:solidFill>
                <a:latin typeface="Arial"/>
                <a:cs typeface="Arial"/>
              </a:rPr>
              <a:t>ł</a:t>
            </a:r>
            <a:r>
              <a:rPr dirty="0" sz="2050" spc="-130">
                <a:solidFill>
                  <a:srgbClr val="49B3E6"/>
                </a:solidFill>
                <a:latin typeface="Arial"/>
                <a:cs typeface="Arial"/>
              </a:rPr>
              <a:t> </a:t>
            </a:r>
            <a:r>
              <a:rPr dirty="0" sz="2050" spc="-150">
                <a:solidFill>
                  <a:srgbClr val="3893BC"/>
                </a:solidFill>
                <a:latin typeface="Arial"/>
                <a:cs typeface="Arial"/>
              </a:rPr>
              <a:t>T</a:t>
            </a:r>
            <a:r>
              <a:rPr dirty="0" sz="2050" spc="-30">
                <a:solidFill>
                  <a:srgbClr val="3893BC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389ED8"/>
                </a:solidFill>
                <a:latin typeface="Arial"/>
                <a:cs typeface="Arial"/>
              </a:rPr>
              <a:t>Y</a:t>
            </a:r>
            <a:r>
              <a:rPr dirty="0" sz="2050" spc="490">
                <a:solidFill>
                  <a:srgbClr val="389ED8"/>
                </a:solidFill>
                <a:latin typeface="Arial"/>
                <a:cs typeface="Arial"/>
              </a:rPr>
              <a:t> </a:t>
            </a:r>
            <a:r>
              <a:rPr dirty="0" sz="2050" spc="-200">
                <a:solidFill>
                  <a:srgbClr val="034674"/>
                </a:solidFill>
                <a:latin typeface="Arial"/>
                <a:cs typeface="Arial"/>
              </a:rPr>
              <a:t>P</a:t>
            </a:r>
            <a:r>
              <a:rPr dirty="0" sz="2050" spc="-95">
                <a:solidFill>
                  <a:srgbClr val="034674"/>
                </a:solidFill>
                <a:latin typeface="Arial"/>
                <a:cs typeface="Arial"/>
              </a:rPr>
              <a:t> </a:t>
            </a:r>
            <a:r>
              <a:rPr dirty="0" sz="2050" spc="-290">
                <a:solidFill>
                  <a:srgbClr val="2D6E77"/>
                </a:solidFill>
                <a:latin typeface="Arial"/>
                <a:cs typeface="Arial"/>
              </a:rPr>
              <a:t>î2</a:t>
            </a:r>
            <a:r>
              <a:rPr dirty="0" sz="2050" spc="-290">
                <a:solidFill>
                  <a:srgbClr val="54B5D8"/>
                </a:solidFill>
                <a:latin typeface="Arial"/>
                <a:cs typeface="Arial"/>
              </a:rPr>
              <a:t>0</a:t>
            </a:r>
            <a:r>
              <a:rPr dirty="0" sz="2050" spc="495">
                <a:solidFill>
                  <a:srgbClr val="54B5D8"/>
                </a:solidFill>
                <a:latin typeface="Arial"/>
                <a:cs typeface="Arial"/>
              </a:rPr>
              <a:t> </a:t>
            </a:r>
            <a:r>
              <a:rPr dirty="0" sz="2050" spc="-150">
                <a:solidFill>
                  <a:srgbClr val="49CDFD"/>
                </a:solidFill>
                <a:latin typeface="Arial"/>
                <a:cs typeface="Arial"/>
              </a:rPr>
              <a:t>T</a:t>
            </a:r>
            <a:r>
              <a:rPr dirty="0" sz="2050" spc="-125">
                <a:solidFill>
                  <a:srgbClr val="49CDFD"/>
                </a:solidFill>
                <a:latin typeface="Arial"/>
                <a:cs typeface="Arial"/>
              </a:rPr>
              <a:t> </a:t>
            </a:r>
            <a:r>
              <a:rPr dirty="0" sz="2050" spc="-315">
                <a:solidFill>
                  <a:srgbClr val="217295"/>
                </a:solidFill>
                <a:latin typeface="Arial"/>
                <a:cs typeface="Arial"/>
              </a:rPr>
              <a:t>E</a:t>
            </a:r>
            <a:r>
              <a:rPr dirty="0" sz="2050" spc="-150">
                <a:solidFill>
                  <a:srgbClr val="217295"/>
                </a:solidFill>
                <a:latin typeface="Arial"/>
                <a:cs typeface="Arial"/>
              </a:rPr>
              <a:t> </a:t>
            </a:r>
            <a:r>
              <a:rPr dirty="0" sz="2050" spc="-185">
                <a:solidFill>
                  <a:srgbClr val="4F89BF"/>
                </a:solidFill>
                <a:latin typeface="Arial"/>
                <a:cs typeface="Arial"/>
              </a:rPr>
              <a:t>C</a:t>
            </a:r>
            <a:r>
              <a:rPr dirty="0" sz="2050" spc="-100">
                <a:solidFill>
                  <a:srgbClr val="4F89BF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00446B"/>
                </a:solidFill>
                <a:latin typeface="Arial"/>
                <a:cs typeface="Arial"/>
              </a:rPr>
              <a:t>T</a:t>
            </a:r>
            <a:r>
              <a:rPr dirty="0" sz="2050" spc="20">
                <a:solidFill>
                  <a:srgbClr val="00446B"/>
                </a:solidFill>
                <a:latin typeface="Arial"/>
                <a:cs typeface="Arial"/>
              </a:rPr>
              <a:t> </a:t>
            </a:r>
            <a:r>
              <a:rPr dirty="0" sz="2050" spc="-260">
                <a:solidFill>
                  <a:srgbClr val="49B3E6"/>
                </a:solidFill>
                <a:latin typeface="Arial"/>
                <a:cs typeface="Arial"/>
              </a:rPr>
              <a:t>ł</a:t>
            </a:r>
            <a:r>
              <a:rPr dirty="0" sz="2050" spc="-260">
                <a:solidFill>
                  <a:srgbClr val="54B5DB"/>
                </a:solidFill>
                <a:latin typeface="Arial"/>
                <a:cs typeface="Arial"/>
              </a:rPr>
              <a:t>0</a:t>
            </a:r>
            <a:r>
              <a:rPr dirty="0" sz="2050" spc="30">
                <a:solidFill>
                  <a:srgbClr val="54B5DB"/>
                </a:solidFill>
                <a:latin typeface="Arial"/>
                <a:cs typeface="Arial"/>
              </a:rPr>
              <a:t>  </a:t>
            </a:r>
            <a:r>
              <a:rPr dirty="0" sz="2050" spc="-50">
                <a:solidFill>
                  <a:srgbClr val="46A8C6"/>
                </a:solidFill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4680485"/>
            <a:ext cx="20080605" cy="918844"/>
          </a:xfrm>
          <a:custGeom>
            <a:avLst/>
            <a:gdLst/>
            <a:ahLst/>
            <a:cxnLst/>
            <a:rect l="l" t="t" r="r" b="b"/>
            <a:pathLst>
              <a:path w="20080605" h="918845">
                <a:moveTo>
                  <a:pt x="20080541" y="918820"/>
                </a:moveTo>
                <a:lnTo>
                  <a:pt x="0" y="91882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18820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27446" y="4311120"/>
            <a:ext cx="13296265" cy="13017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350" spc="-360">
                <a:solidFill>
                  <a:srgbClr val="FFFFFF"/>
                </a:solidFill>
              </a:rPr>
              <a:t>Secure</a:t>
            </a:r>
            <a:r>
              <a:rPr dirty="0" sz="8350" spc="-740">
                <a:solidFill>
                  <a:srgbClr val="FFFFFF"/>
                </a:solidFill>
              </a:rPr>
              <a:t> </a:t>
            </a:r>
            <a:r>
              <a:rPr dirty="0" sz="8350" spc="-185">
                <a:solidFill>
                  <a:srgbClr val="FFFFFF"/>
                </a:solidFill>
              </a:rPr>
              <a:t>Neighbourhood</a:t>
            </a:r>
            <a:r>
              <a:rPr dirty="0" sz="8350" spc="-340">
                <a:solidFill>
                  <a:srgbClr val="FFFFFF"/>
                </a:solidFill>
              </a:rPr>
              <a:t> </a:t>
            </a:r>
            <a:r>
              <a:rPr dirty="0" sz="8350" spc="-345">
                <a:solidFill>
                  <a:srgbClr val="FFFFFF"/>
                </a:solidFill>
              </a:rPr>
              <a:t>Guard</a:t>
            </a:r>
            <a:endParaRPr sz="8350"/>
          </a:p>
        </p:txBody>
      </p:sp>
      <p:sp>
        <p:nvSpPr>
          <p:cNvPr id="6" name="object 6"/>
          <p:cNvSpPr/>
          <p:nvPr/>
        </p:nvSpPr>
        <p:spPr>
          <a:xfrm>
            <a:off x="15706" y="5952698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706" y="6471007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1649" y="5768537"/>
            <a:ext cx="11278870" cy="1062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670" marR="5080" indent="-14604">
              <a:lnSpc>
                <a:spcPct val="121500"/>
              </a:lnSpc>
              <a:spcBef>
                <a:spcPts val="90"/>
              </a:spcBef>
            </a:pPr>
            <a:r>
              <a:rPr dirty="0" sz="2800">
                <a:solidFill>
                  <a:srgbClr val="AFAFAF"/>
                </a:solidFill>
                <a:latin typeface="Arial"/>
                <a:cs typeface="Arial"/>
              </a:rPr>
              <a:t>Intelligent</a:t>
            </a:r>
            <a:r>
              <a:rPr dirty="0" sz="2800" spc="31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A1A1A1"/>
                </a:solidFill>
                <a:latin typeface="Arial"/>
                <a:cs typeface="Arial"/>
              </a:rPr>
              <a:t>patrol</a:t>
            </a:r>
            <a:r>
              <a:rPr dirty="0" sz="2800" spc="150">
                <a:solidFill>
                  <a:srgbClr val="A1A1A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A5A5A5"/>
                </a:solidFill>
                <a:latin typeface="Arial"/>
                <a:cs typeface="Arial"/>
              </a:rPr>
              <a:t>dispatch,</a:t>
            </a:r>
            <a:r>
              <a:rPr dirty="0" sz="2800" spc="245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AFAFAF"/>
                </a:solidFill>
                <a:latin typeface="Arial"/>
                <a:cs typeface="Arial"/>
              </a:rPr>
              <a:t>real-</a:t>
            </a:r>
            <a:r>
              <a:rPr dirty="0" sz="2800">
                <a:solidFill>
                  <a:srgbClr val="AFAFAF"/>
                </a:solidFill>
                <a:latin typeface="Arial"/>
                <a:cs typeface="Arial"/>
              </a:rPr>
              <a:t>time</a:t>
            </a:r>
            <a:r>
              <a:rPr dirty="0" sz="2800" spc="33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B1B1B1"/>
                </a:solidFill>
                <a:latin typeface="Arial"/>
                <a:cs typeface="Arial"/>
              </a:rPr>
              <a:t>resident</a:t>
            </a:r>
            <a:r>
              <a:rPr dirty="0" sz="2800" spc="29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B1B1B1"/>
                </a:solidFill>
                <a:latin typeface="Arial"/>
                <a:cs typeface="Arial"/>
              </a:rPr>
              <a:t>reporting,</a:t>
            </a:r>
            <a:r>
              <a:rPr dirty="0" sz="2800" spc="22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606B80"/>
                </a:solidFill>
                <a:latin typeface="Arial"/>
                <a:cs typeface="Arial"/>
              </a:rPr>
              <a:t>and</a:t>
            </a:r>
            <a:r>
              <a:rPr dirty="0" sz="2800" spc="85">
                <a:solidFill>
                  <a:srgbClr val="606B8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B3B3B3"/>
                </a:solidFill>
                <a:latin typeface="Arial"/>
                <a:cs typeface="Arial"/>
              </a:rPr>
              <a:t>automated </a:t>
            </a:r>
            <a:r>
              <a:rPr dirty="0" sz="2800">
                <a:solidFill>
                  <a:srgbClr val="000823"/>
                </a:solidFill>
                <a:latin typeface="Arial"/>
                <a:cs typeface="Arial"/>
              </a:rPr>
              <a:t>gate</a:t>
            </a:r>
            <a:r>
              <a:rPr dirty="0" sz="2800" spc="229">
                <a:solidFill>
                  <a:srgbClr val="00082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B5B5B5"/>
                </a:solidFill>
                <a:latin typeface="Arial"/>
                <a:cs typeface="Arial"/>
              </a:rPr>
              <a:t>security</a:t>
            </a:r>
            <a:r>
              <a:rPr dirty="0" sz="2800" spc="204">
                <a:solidFill>
                  <a:srgbClr val="B5B5B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AEAEAE"/>
                </a:solidFill>
                <a:latin typeface="Arial"/>
                <a:cs typeface="Arial"/>
              </a:rPr>
              <a:t>in</a:t>
            </a:r>
            <a:r>
              <a:rPr dirty="0" sz="2800" spc="150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AFAFAF"/>
                </a:solidFill>
                <a:latin typeface="Arial"/>
                <a:cs typeface="Arial"/>
              </a:rPr>
              <a:t>one</a:t>
            </a:r>
            <a:r>
              <a:rPr dirty="0" sz="2800" spc="16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AFAFAF"/>
                </a:solidFill>
                <a:latin typeface="Arial"/>
                <a:cs typeface="Arial"/>
              </a:rPr>
              <a:t>unified</a:t>
            </a:r>
            <a:r>
              <a:rPr dirty="0" sz="2800" spc="16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AEAEAE"/>
                </a:solidFill>
                <a:latin typeface="Arial"/>
                <a:cs typeface="Arial"/>
              </a:rPr>
              <a:t>platform.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45907" y="833478"/>
            <a:ext cx="209042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35">
                <a:solidFill>
                  <a:srgbClr val="3A60AE"/>
                </a:solidFill>
                <a:latin typeface="Arial"/>
                <a:cs typeface="Arial"/>
              </a:rPr>
              <a:t>T</a:t>
            </a:r>
            <a:r>
              <a:rPr dirty="0" sz="1900" spc="-320">
                <a:solidFill>
                  <a:srgbClr val="3A60AE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315DB8"/>
                </a:solidFill>
                <a:latin typeface="Arial"/>
                <a:cs typeface="Arial"/>
              </a:rPr>
              <a:t>H</a:t>
            </a:r>
            <a:r>
              <a:rPr dirty="0" sz="1900">
                <a:solidFill>
                  <a:srgbClr val="3B69FF"/>
                </a:solidFill>
                <a:latin typeface="Arial"/>
                <a:cs typeface="Arial"/>
              </a:rPr>
              <a:t>E</a:t>
            </a:r>
            <a:r>
              <a:rPr dirty="0" sz="1900" spc="204">
                <a:solidFill>
                  <a:srgbClr val="3B69FF"/>
                </a:solidFill>
                <a:latin typeface="Arial"/>
                <a:cs typeface="Arial"/>
              </a:rPr>
              <a:t> </a:t>
            </a:r>
            <a:r>
              <a:rPr dirty="0" sz="1900" spc="-40">
                <a:solidFill>
                  <a:srgbClr val="3B62E6"/>
                </a:solidFill>
                <a:latin typeface="Arial"/>
                <a:cs typeface="Arial"/>
              </a:rPr>
              <a:t>C</a:t>
            </a:r>
            <a:r>
              <a:rPr dirty="0" sz="1900" spc="-40">
                <a:solidFill>
                  <a:srgbClr val="2D5DA5"/>
                </a:solidFill>
                <a:latin typeface="Arial"/>
                <a:cs typeface="Arial"/>
              </a:rPr>
              <a:t>HA</a:t>
            </a:r>
            <a:r>
              <a:rPr dirty="0" sz="1900" spc="-250">
                <a:solidFill>
                  <a:srgbClr val="2D5DA5"/>
                </a:solidFill>
                <a:latin typeface="Arial"/>
                <a:cs typeface="Arial"/>
              </a:rPr>
              <a:t> </a:t>
            </a:r>
            <a:r>
              <a:rPr dirty="0" sz="1900" spc="-35">
                <a:solidFill>
                  <a:srgbClr val="1A64E2"/>
                </a:solidFill>
                <a:latin typeface="Arial"/>
                <a:cs typeface="Arial"/>
              </a:rPr>
              <a:t>LLE</a:t>
            </a:r>
            <a:r>
              <a:rPr dirty="0" sz="1900" spc="-345">
                <a:solidFill>
                  <a:srgbClr val="1A64E2"/>
                </a:solidFill>
                <a:latin typeface="Arial"/>
                <a:cs typeface="Arial"/>
              </a:rPr>
              <a:t> </a:t>
            </a:r>
            <a:r>
              <a:rPr dirty="0" sz="1900" spc="-75">
                <a:solidFill>
                  <a:srgbClr val="186BEB"/>
                </a:solidFill>
                <a:latin typeface="Arial"/>
                <a:cs typeface="Arial"/>
              </a:rPr>
              <a:t>N</a:t>
            </a:r>
            <a:r>
              <a:rPr dirty="0" sz="1900" spc="-250">
                <a:solidFill>
                  <a:srgbClr val="186BEB"/>
                </a:solidFill>
                <a:latin typeface="Arial"/>
                <a:cs typeface="Arial"/>
              </a:rPr>
              <a:t> </a:t>
            </a:r>
            <a:r>
              <a:rPr dirty="0" sz="1900" spc="-125">
                <a:solidFill>
                  <a:srgbClr val="2F5DD1"/>
                </a:solidFill>
                <a:latin typeface="Arial"/>
                <a:cs typeface="Arial"/>
              </a:rPr>
              <a:t>GE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260">
                <a:latin typeface="Calibri"/>
                <a:cs typeface="Calibri"/>
              </a:rPr>
              <a:t>Gaps</a:t>
            </a:r>
            <a:r>
              <a:rPr dirty="0" spc="-245">
                <a:latin typeface="Calibri"/>
                <a:cs typeface="Calibri"/>
              </a:rPr>
              <a:t> </a:t>
            </a:r>
            <a:r>
              <a:rPr dirty="0" spc="85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dirty="0" spc="-35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51515"/>
                </a:solidFill>
                <a:latin typeface="Calibri"/>
                <a:cs typeface="Calibri"/>
              </a:rPr>
              <a:t>Traditional</a:t>
            </a:r>
            <a:r>
              <a:rPr dirty="0" spc="-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pc="110">
                <a:solidFill>
                  <a:srgbClr val="151515"/>
                </a:solidFill>
                <a:latin typeface="Calibri"/>
                <a:cs typeface="Calibri"/>
              </a:rPr>
              <a:t>Residential</a:t>
            </a:r>
            <a:r>
              <a:rPr dirty="0" spc="2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pc="155">
                <a:solidFill>
                  <a:srgbClr val="131313"/>
                </a:solidFill>
                <a:latin typeface="Calibri"/>
                <a:cs typeface="Calibri"/>
              </a:rPr>
              <a:t>Security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6283" y="5395123"/>
            <a:ext cx="534015" cy="518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100" y="5395123"/>
            <a:ext cx="643959" cy="5183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64505" y="5410830"/>
            <a:ext cx="612546" cy="47904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95078" y="6025419"/>
            <a:ext cx="3805554" cy="1549400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800" spc="80">
                <a:solidFill>
                  <a:srgbClr val="0E0E0E"/>
                </a:solidFill>
                <a:latin typeface="Arial"/>
                <a:cs typeface="Arial"/>
              </a:rPr>
              <a:t>Delayed</a:t>
            </a:r>
            <a:r>
              <a:rPr dirty="0" sz="2800" spc="-17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F0F0F"/>
                </a:solidFill>
                <a:latin typeface="Arial"/>
                <a:cs typeface="Arial"/>
              </a:rPr>
              <a:t>Response</a:t>
            </a:r>
            <a:endParaRPr sz="2800">
              <a:latin typeface="Arial"/>
              <a:cs typeface="Arial"/>
            </a:endParaRPr>
          </a:p>
          <a:p>
            <a:pPr marL="20955" marR="5080" indent="-5715">
              <a:lnSpc>
                <a:spcPct val="105200"/>
              </a:lnSpc>
              <a:spcBef>
                <a:spcPts val="1045"/>
              </a:spcBef>
            </a:pPr>
            <a:r>
              <a:rPr dirty="0" sz="2450" spc="-10">
                <a:solidFill>
                  <a:srgbClr val="696969"/>
                </a:solidFill>
                <a:latin typeface="Arial"/>
                <a:cs typeface="Arial"/>
              </a:rPr>
              <a:t>Unstructured</a:t>
            </a:r>
            <a:r>
              <a:rPr dirty="0" sz="2450" spc="-3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dirty="0" sz="2450" spc="-40">
                <a:solidFill>
                  <a:srgbClr val="8A93A3"/>
                </a:solidFill>
                <a:latin typeface="Arial"/>
                <a:cs typeface="Arial"/>
              </a:rPr>
              <a:t>channels</a:t>
            </a:r>
            <a:r>
              <a:rPr dirty="0" sz="2450" spc="40">
                <a:solidFill>
                  <a:srgbClr val="8A93A3"/>
                </a:solidFill>
                <a:latin typeface="Arial"/>
                <a:cs typeface="Arial"/>
              </a:rPr>
              <a:t> </a:t>
            </a:r>
            <a:r>
              <a:rPr dirty="0" sz="2450" spc="-20">
                <a:solidFill>
                  <a:srgbClr val="5B7285"/>
                </a:solidFill>
                <a:latin typeface="Arial"/>
                <a:cs typeface="Arial"/>
              </a:rPr>
              <a:t>slow </a:t>
            </a:r>
            <a:r>
              <a:rPr dirty="0" sz="2450" spc="-25">
                <a:solidFill>
                  <a:srgbClr val="6D6D6D"/>
                </a:solidFill>
                <a:latin typeface="Arial"/>
                <a:cs typeface="Arial"/>
              </a:rPr>
              <a:t>emergency</a:t>
            </a:r>
            <a:r>
              <a:rPr dirty="0" sz="2450" spc="5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27272"/>
                </a:solidFill>
                <a:latin typeface="Arial"/>
                <a:cs typeface="Arial"/>
              </a:rPr>
              <a:t>dispatch.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8736" y="6025419"/>
            <a:ext cx="4296410" cy="1549400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2800" spc="185">
                <a:solidFill>
                  <a:srgbClr val="131313"/>
                </a:solidFill>
                <a:latin typeface="Calibri"/>
                <a:cs typeface="Calibri"/>
              </a:rPr>
              <a:t>Zero</a:t>
            </a:r>
            <a:r>
              <a:rPr dirty="0" sz="2800" spc="-17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800" spc="220">
                <a:solidFill>
                  <a:srgbClr val="0C0C0C"/>
                </a:solidFill>
                <a:latin typeface="Calibri"/>
                <a:cs typeface="Calibri"/>
              </a:rPr>
              <a:t>Blindspot</a:t>
            </a:r>
            <a:r>
              <a:rPr dirty="0" sz="2800" spc="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800" spc="155">
                <a:solidFill>
                  <a:srgbClr val="0F0F0F"/>
                </a:solidFill>
                <a:latin typeface="Calibri"/>
                <a:cs typeface="Calibri"/>
              </a:rPr>
              <a:t>Visibility</a:t>
            </a:r>
            <a:endParaRPr sz="2800">
              <a:latin typeface="Calibri"/>
              <a:cs typeface="Calibri"/>
            </a:endParaRPr>
          </a:p>
          <a:p>
            <a:pPr marL="18415" marR="5080" indent="-5080">
              <a:lnSpc>
                <a:spcPct val="105200"/>
              </a:lnSpc>
              <a:spcBef>
                <a:spcPts val="1045"/>
              </a:spcBef>
            </a:pPr>
            <a:r>
              <a:rPr dirty="0" sz="2450" spc="-10">
                <a:solidFill>
                  <a:srgbClr val="626262"/>
                </a:solidFill>
                <a:latin typeface="Arial"/>
                <a:cs typeface="Arial"/>
              </a:rPr>
              <a:t>Unverified</a:t>
            </a:r>
            <a:r>
              <a:rPr dirty="0" sz="2450" spc="-10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26262"/>
                </a:solidFill>
                <a:latin typeface="Arial"/>
                <a:cs typeface="Arial"/>
              </a:rPr>
              <a:t>patrols</a:t>
            </a:r>
            <a:r>
              <a:rPr dirty="0" sz="2450" spc="-9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2450" spc="-40">
                <a:solidFill>
                  <a:srgbClr val="727C95"/>
                </a:solidFill>
                <a:latin typeface="Arial"/>
                <a:cs typeface="Arial"/>
              </a:rPr>
              <a:t>leave </a:t>
            </a:r>
            <a:r>
              <a:rPr dirty="0" sz="2450" spc="-10">
                <a:solidFill>
                  <a:srgbClr val="667085"/>
                </a:solidFill>
                <a:latin typeface="Arial"/>
                <a:cs typeface="Arial"/>
              </a:rPr>
              <a:t>sectors </a:t>
            </a:r>
            <a:r>
              <a:rPr dirty="0" sz="2450" spc="-10">
                <a:solidFill>
                  <a:srgbClr val="6B6B6B"/>
                </a:solidFill>
                <a:latin typeface="Arial"/>
                <a:cs typeface="Arial"/>
              </a:rPr>
              <a:t>unmonitored.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69891" y="5974210"/>
            <a:ext cx="3948429" cy="159766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dirty="0" sz="2950" spc="-85">
                <a:solidFill>
                  <a:srgbClr val="0F0F0F"/>
                </a:solidFill>
                <a:latin typeface="Arial"/>
                <a:cs typeface="Arial"/>
              </a:rPr>
              <a:t>Paper</a:t>
            </a:r>
            <a:r>
              <a:rPr dirty="0" sz="2950" spc="-13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C0C0C"/>
                </a:solidFill>
                <a:latin typeface="Arial"/>
                <a:cs typeface="Arial"/>
              </a:rPr>
              <a:t>Logbooks</a:t>
            </a:r>
            <a:endParaRPr sz="2950">
              <a:latin typeface="Arial"/>
              <a:cs typeface="Arial"/>
            </a:endParaRPr>
          </a:p>
          <a:p>
            <a:pPr marL="29845" marR="5080" indent="-10795">
              <a:lnSpc>
                <a:spcPct val="112000"/>
              </a:lnSpc>
              <a:spcBef>
                <a:spcPts val="985"/>
              </a:spcBef>
            </a:pPr>
            <a:r>
              <a:rPr dirty="0" sz="2300">
                <a:solidFill>
                  <a:srgbClr val="62728A"/>
                </a:solidFill>
                <a:latin typeface="Arial"/>
                <a:cs typeface="Arial"/>
              </a:rPr>
              <a:t>Manual</a:t>
            </a:r>
            <a:r>
              <a:rPr dirty="0" sz="2300" spc="220">
                <a:solidFill>
                  <a:srgbClr val="62728A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B7C8E"/>
                </a:solidFill>
                <a:latin typeface="Arial"/>
                <a:cs typeface="Arial"/>
              </a:rPr>
              <a:t>visitor</a:t>
            </a:r>
            <a:r>
              <a:rPr dirty="0" sz="2300" spc="260">
                <a:solidFill>
                  <a:srgbClr val="6B7C8E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727272"/>
                </a:solidFill>
                <a:latin typeface="Arial"/>
                <a:cs typeface="Arial"/>
              </a:rPr>
              <a:t>records</a:t>
            </a:r>
            <a:r>
              <a:rPr dirty="0" sz="2300" spc="24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707070"/>
                </a:solidFill>
                <a:latin typeface="Arial"/>
                <a:cs typeface="Arial"/>
              </a:rPr>
              <a:t>create vulnerabilities.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6674" y="866200"/>
            <a:ext cx="1910714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2F5DBA"/>
                </a:solidFill>
                <a:latin typeface="Arial"/>
                <a:cs typeface="Arial"/>
              </a:rPr>
              <a:t>T</a:t>
            </a:r>
            <a:r>
              <a:rPr dirty="0" sz="1650" spc="-240">
                <a:solidFill>
                  <a:srgbClr val="2F5DBA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3464C6"/>
                </a:solidFill>
                <a:latin typeface="Arial"/>
                <a:cs typeface="Arial"/>
              </a:rPr>
              <a:t>H</a:t>
            </a:r>
            <a:r>
              <a:rPr dirty="0" sz="1650" spc="55">
                <a:solidFill>
                  <a:srgbClr val="1C59DD"/>
                </a:solidFill>
                <a:latin typeface="Arial"/>
                <a:cs typeface="Arial"/>
              </a:rPr>
              <a:t>E</a:t>
            </a:r>
            <a:r>
              <a:rPr dirty="0" sz="1650" spc="430">
                <a:solidFill>
                  <a:srgbClr val="1C59DD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67DB"/>
                </a:solidFill>
                <a:latin typeface="Arial"/>
                <a:cs typeface="Arial"/>
              </a:rPr>
              <a:t>P</a:t>
            </a:r>
            <a:r>
              <a:rPr dirty="0" sz="1650" spc="-254">
                <a:solidFill>
                  <a:srgbClr val="2B67D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1C62D8"/>
                </a:solidFill>
                <a:latin typeface="Arial"/>
                <a:cs typeface="Arial"/>
              </a:rPr>
              <a:t>LAT</a:t>
            </a:r>
            <a:r>
              <a:rPr dirty="0" sz="1650" spc="270">
                <a:solidFill>
                  <a:srgbClr val="1C62D8"/>
                </a:solidFill>
                <a:latin typeface="Arial"/>
                <a:cs typeface="Arial"/>
              </a:rPr>
              <a:t> </a:t>
            </a:r>
            <a:r>
              <a:rPr dirty="0" sz="1650" spc="-30">
                <a:solidFill>
                  <a:srgbClr val="2656D4"/>
                </a:solidFill>
                <a:latin typeface="Arial"/>
                <a:cs typeface="Arial"/>
              </a:rPr>
              <a:t>F</a:t>
            </a:r>
            <a:r>
              <a:rPr dirty="0" sz="1650" spc="-215">
                <a:solidFill>
                  <a:srgbClr val="2656D4"/>
                </a:solidFill>
                <a:latin typeface="Arial"/>
                <a:cs typeface="Arial"/>
              </a:rPr>
              <a:t> </a:t>
            </a:r>
            <a:r>
              <a:rPr dirty="0" sz="1650" spc="-60">
                <a:solidFill>
                  <a:srgbClr val="3B54C1"/>
                </a:solidFill>
                <a:latin typeface="Arial"/>
                <a:cs typeface="Arial"/>
              </a:rPr>
              <a:t>O</a:t>
            </a:r>
            <a:r>
              <a:rPr dirty="0" sz="1650" spc="-200">
                <a:solidFill>
                  <a:srgbClr val="3B54C1"/>
                </a:solidFill>
                <a:latin typeface="Arial"/>
                <a:cs typeface="Arial"/>
              </a:rPr>
              <a:t> </a:t>
            </a:r>
            <a:r>
              <a:rPr dirty="0" sz="1650" spc="-160">
                <a:solidFill>
                  <a:srgbClr val="235EF2"/>
                </a:solidFill>
                <a:latin typeface="Arial"/>
                <a:cs typeface="Arial"/>
              </a:rPr>
              <a:t>R</a:t>
            </a:r>
            <a:r>
              <a:rPr dirty="0" sz="1650" spc="-190">
                <a:solidFill>
                  <a:srgbClr val="235EF2"/>
                </a:solidFill>
                <a:latin typeface="Arial"/>
                <a:cs typeface="Arial"/>
              </a:rPr>
              <a:t> </a:t>
            </a:r>
            <a:r>
              <a:rPr dirty="0" sz="1650" spc="-100">
                <a:solidFill>
                  <a:srgbClr val="1A59F4"/>
                </a:solidFill>
                <a:latin typeface="Arial"/>
                <a:cs typeface="Arial"/>
              </a:rPr>
              <a:t>M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44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30"/>
              </a:spcBef>
            </a:pPr>
            <a:r>
              <a:rPr dirty="0" sz="4350" spc="204">
                <a:solidFill>
                  <a:srgbClr val="161616"/>
                </a:solidFill>
              </a:rPr>
              <a:t>Connected</a:t>
            </a:r>
            <a:r>
              <a:rPr dirty="0" sz="4350" spc="-290">
                <a:solidFill>
                  <a:srgbClr val="161616"/>
                </a:solidFill>
              </a:rPr>
              <a:t> </a:t>
            </a:r>
            <a:r>
              <a:rPr dirty="0" sz="4350" spc="155">
                <a:solidFill>
                  <a:srgbClr val="131313"/>
                </a:solidFill>
              </a:rPr>
              <a:t>Neighborhood</a:t>
            </a:r>
            <a:r>
              <a:rPr dirty="0" sz="4350" spc="25">
                <a:solidFill>
                  <a:srgbClr val="131313"/>
                </a:solidFill>
              </a:rPr>
              <a:t> </a:t>
            </a:r>
            <a:r>
              <a:rPr dirty="0" sz="4350" spc="50">
                <a:solidFill>
                  <a:srgbClr val="161616"/>
                </a:solidFill>
              </a:rPr>
              <a:t>Defense</a:t>
            </a:r>
            <a:endParaRPr sz="4350"/>
          </a:p>
        </p:txBody>
      </p:sp>
      <p:sp>
        <p:nvSpPr>
          <p:cNvPr id="5" name="object 5"/>
          <p:cNvSpPr txBox="1"/>
          <p:nvPr/>
        </p:nvSpPr>
        <p:spPr>
          <a:xfrm>
            <a:off x="1384946" y="3110241"/>
            <a:ext cx="46240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1C1C1C"/>
                </a:solidFill>
                <a:latin typeface="Arial"/>
                <a:cs typeface="Arial"/>
              </a:rPr>
              <a:t>.Neighborhood</a:t>
            </a:r>
            <a:r>
              <a:rPr dirty="0" sz="2050" spc="47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32323"/>
                </a:solidFill>
                <a:latin typeface="Arial"/>
                <a:cs typeface="Arial"/>
              </a:rPr>
              <a:t>Guard</a:t>
            </a:r>
            <a:r>
              <a:rPr dirty="0" sz="2050" spc="36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C1C1C"/>
                </a:solidFill>
                <a:latin typeface="Arial"/>
                <a:cs typeface="Arial"/>
              </a:rPr>
              <a:t>Mobile</a:t>
            </a:r>
            <a:r>
              <a:rPr dirty="0" sz="2050" spc="22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Arial"/>
                <a:cs typeface="Arial"/>
              </a:rPr>
              <a:t>Interface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8890" y="6274678"/>
            <a:ext cx="353392" cy="3062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06466" y="4783256"/>
            <a:ext cx="6948805" cy="322834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795655">
              <a:lnSpc>
                <a:spcPct val="100000"/>
              </a:lnSpc>
              <a:spcBef>
                <a:spcPts val="409"/>
              </a:spcBef>
            </a:pPr>
            <a:r>
              <a:rPr dirty="0" sz="2550" spc="105">
                <a:solidFill>
                  <a:srgbClr val="0E0E0E"/>
                </a:solidFill>
                <a:latin typeface="Arial"/>
                <a:cs typeface="Arial"/>
              </a:rPr>
              <a:t>One-</a:t>
            </a:r>
            <a:r>
              <a:rPr dirty="0" sz="2550" spc="110">
                <a:solidFill>
                  <a:srgbClr val="0E0E0E"/>
                </a:solidFill>
                <a:latin typeface="Arial"/>
                <a:cs typeface="Arial"/>
              </a:rPr>
              <a:t>Tap</a:t>
            </a:r>
            <a:r>
              <a:rPr dirty="0" sz="2550" spc="-7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550" spc="-40">
                <a:solidFill>
                  <a:srgbClr val="161616"/>
                </a:solidFill>
                <a:latin typeface="Arial"/>
                <a:cs typeface="Arial"/>
              </a:rPr>
              <a:t>SOS</a:t>
            </a:r>
            <a:r>
              <a:rPr dirty="0" sz="2550" spc="-114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81818"/>
                </a:solidFill>
                <a:latin typeface="Arial"/>
                <a:cs typeface="Arial"/>
              </a:rPr>
              <a:t>Panic</a:t>
            </a:r>
            <a:r>
              <a:rPr dirty="0" sz="2550" spc="-2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550" spc="130">
                <a:solidFill>
                  <a:srgbClr val="0F0F0F"/>
                </a:solidFill>
                <a:latin typeface="Arial"/>
                <a:cs typeface="Arial"/>
              </a:rPr>
              <a:t>Button</a:t>
            </a:r>
            <a:endParaRPr sz="2550">
              <a:latin typeface="Arial"/>
              <a:cs typeface="Arial"/>
            </a:endParaRPr>
          </a:p>
          <a:p>
            <a:pPr marL="791845">
              <a:lnSpc>
                <a:spcPct val="100000"/>
              </a:lnSpc>
              <a:spcBef>
                <a:spcPts val="284"/>
              </a:spcBef>
            </a:pPr>
            <a:r>
              <a:rPr dirty="0" sz="2300">
                <a:solidFill>
                  <a:srgbClr val="646464"/>
                </a:solidFill>
                <a:latin typeface="Arial"/>
                <a:cs typeface="Arial"/>
              </a:rPr>
              <a:t>Instant</a:t>
            </a:r>
            <a:r>
              <a:rPr dirty="0" sz="2300" spc="405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6B6B6B"/>
                </a:solidFill>
                <a:latin typeface="Arial"/>
                <a:cs typeface="Arial"/>
              </a:rPr>
              <a:t>geo-tagged</a:t>
            </a:r>
            <a:r>
              <a:rPr dirty="0" sz="2300" spc="484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B6B6B"/>
                </a:solidFill>
                <a:latin typeface="Arial"/>
                <a:cs typeface="Arial"/>
              </a:rPr>
              <a:t>resident</a:t>
            </a:r>
            <a:r>
              <a:rPr dirty="0" sz="2300" spc="415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46464"/>
                </a:solidFill>
                <a:latin typeface="Arial"/>
                <a:cs typeface="Arial"/>
              </a:rPr>
              <a:t>distress</a:t>
            </a:r>
            <a:r>
              <a:rPr dirty="0" sz="2300" spc="509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646464"/>
                </a:solidFill>
                <a:latin typeface="Arial"/>
                <a:cs typeface="Arial"/>
              </a:rPr>
              <a:t>alerts.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300">
              <a:latin typeface="Arial"/>
              <a:cs typeface="Arial"/>
            </a:endParaRPr>
          </a:p>
          <a:p>
            <a:pPr marL="873125">
              <a:lnSpc>
                <a:spcPct val="100000"/>
              </a:lnSpc>
            </a:pPr>
            <a:r>
              <a:rPr dirty="0" sz="2700" spc="-60">
                <a:solidFill>
                  <a:srgbClr val="0C0C0C"/>
                </a:solidFill>
                <a:latin typeface="Arial"/>
                <a:cs typeface="Arial"/>
              </a:rPr>
              <a:t>Live</a:t>
            </a:r>
            <a:r>
              <a:rPr dirty="0" sz="2700" spc="-17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700" spc="-25">
                <a:solidFill>
                  <a:srgbClr val="131313"/>
                </a:solidFill>
                <a:latin typeface="Arial"/>
                <a:cs typeface="Arial"/>
              </a:rPr>
              <a:t>Guard</a:t>
            </a:r>
            <a:r>
              <a:rPr dirty="0" sz="2700" spc="-3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0C0C0C"/>
                </a:solidFill>
                <a:latin typeface="Arial"/>
                <a:cs typeface="Arial"/>
              </a:rPr>
              <a:t>Tracking</a:t>
            </a:r>
            <a:endParaRPr sz="2700">
              <a:latin typeface="Arial"/>
              <a:cs typeface="Arial"/>
            </a:endParaRPr>
          </a:p>
          <a:p>
            <a:pPr marL="883285">
              <a:lnSpc>
                <a:spcPct val="100000"/>
              </a:lnSpc>
              <a:spcBef>
                <a:spcPts val="250"/>
              </a:spcBef>
            </a:pPr>
            <a:r>
              <a:rPr dirty="0" sz="2300">
                <a:solidFill>
                  <a:srgbClr val="727272"/>
                </a:solidFill>
                <a:latin typeface="Arial"/>
                <a:cs typeface="Arial"/>
              </a:rPr>
              <a:t>Transparent</a:t>
            </a:r>
            <a:r>
              <a:rPr dirty="0" sz="2300" spc="35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69747E"/>
                </a:solidFill>
                <a:latin typeface="Arial"/>
                <a:cs typeface="Arial"/>
              </a:rPr>
              <a:t>GPS</a:t>
            </a:r>
            <a:r>
              <a:rPr dirty="0" sz="2300" spc="250">
                <a:solidFill>
                  <a:srgbClr val="69747E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757575"/>
                </a:solidFill>
                <a:latin typeface="Arial"/>
                <a:cs typeface="Arial"/>
              </a:rPr>
              <a:t>route</a:t>
            </a:r>
            <a:r>
              <a:rPr dirty="0" sz="2300" spc="295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6E6E6E"/>
                </a:solidFill>
                <a:latin typeface="Arial"/>
                <a:cs typeface="Arial"/>
              </a:rPr>
              <a:t>verification.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94385" algn="l"/>
              </a:tabLst>
            </a:pPr>
            <a:r>
              <a:rPr dirty="0" sz="2550" spc="-25">
                <a:solidFill>
                  <a:srgbClr val="1F64CA"/>
                </a:solidFill>
                <a:latin typeface="Arial"/>
                <a:cs typeface="Arial"/>
              </a:rPr>
              <a:t>..</a:t>
            </a:r>
            <a:r>
              <a:rPr dirty="0" sz="2550">
                <a:solidFill>
                  <a:srgbClr val="1F64CA"/>
                </a:solidFill>
                <a:latin typeface="Arial"/>
                <a:cs typeface="Arial"/>
              </a:rPr>
              <a:t>	</a:t>
            </a:r>
            <a:r>
              <a:rPr dirty="0" sz="2550" spc="85">
                <a:solidFill>
                  <a:srgbClr val="161616"/>
                </a:solidFill>
                <a:latin typeface="Arial"/>
                <a:cs typeface="Arial"/>
              </a:rPr>
              <a:t>Digital</a:t>
            </a:r>
            <a:r>
              <a:rPr dirty="0" sz="2550" spc="5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F0F0F"/>
                </a:solidFill>
                <a:latin typeface="Arial"/>
                <a:cs typeface="Arial"/>
              </a:rPr>
              <a:t>Access</a:t>
            </a:r>
            <a:r>
              <a:rPr dirty="0" sz="2550" spc="1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11111"/>
                </a:solidFill>
                <a:latin typeface="Arial"/>
                <a:cs typeface="Arial"/>
              </a:rPr>
              <a:t>Passes</a:t>
            </a:r>
            <a:endParaRPr sz="2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80"/>
              </a:spcBef>
              <a:tabLst>
                <a:tab pos="791845" algn="l"/>
              </a:tabLst>
            </a:pPr>
            <a:r>
              <a:rPr dirty="0" sz="2300" spc="-25">
                <a:solidFill>
                  <a:srgbClr val="2366D6"/>
                </a:solidFill>
                <a:latin typeface="Arial"/>
                <a:cs typeface="Arial"/>
              </a:rPr>
              <a:t>""</a:t>
            </a:r>
            <a:r>
              <a:rPr dirty="0" sz="2300">
                <a:solidFill>
                  <a:srgbClr val="2366D6"/>
                </a:solidFill>
                <a:latin typeface="Arial"/>
                <a:cs typeface="Arial"/>
              </a:rPr>
              <a:t>	</a:t>
            </a:r>
            <a:r>
              <a:rPr dirty="0" sz="2300">
                <a:solidFill>
                  <a:srgbClr val="6B6B6B"/>
                </a:solidFill>
                <a:latin typeface="Arial"/>
                <a:cs typeface="Arial"/>
              </a:rPr>
              <a:t>Instant</a:t>
            </a:r>
            <a:r>
              <a:rPr dirty="0" sz="2300" spc="20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67758A"/>
                </a:solidFill>
                <a:latin typeface="Arial"/>
                <a:cs typeface="Arial"/>
              </a:rPr>
              <a:t>QR</a:t>
            </a:r>
            <a:r>
              <a:rPr dirty="0" sz="2300" spc="210">
                <a:solidFill>
                  <a:srgbClr val="67758A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747474"/>
                </a:solidFill>
                <a:latin typeface="Arial"/>
                <a:cs typeface="Arial"/>
              </a:rPr>
              <a:t>code</a:t>
            </a:r>
            <a:r>
              <a:rPr dirty="0" sz="2300" spc="315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707070"/>
                </a:solidFill>
                <a:latin typeface="Arial"/>
                <a:cs typeface="Arial"/>
              </a:rPr>
              <a:t>validation</a:t>
            </a:r>
            <a:r>
              <a:rPr dirty="0" sz="2300" spc="38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27C91"/>
                </a:solidFill>
                <a:latin typeface="Arial"/>
                <a:cs typeface="Arial"/>
              </a:rPr>
              <a:t>at</a:t>
            </a:r>
            <a:r>
              <a:rPr dirty="0" sz="2300" spc="125">
                <a:solidFill>
                  <a:srgbClr val="627C91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798293"/>
                </a:solidFill>
                <a:latin typeface="Arial"/>
                <a:cs typeface="Arial"/>
              </a:rPr>
              <a:t>perimeter</a:t>
            </a:r>
            <a:r>
              <a:rPr dirty="0" sz="2300" spc="335">
                <a:solidFill>
                  <a:srgbClr val="798293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BABABA"/>
                </a:solidFill>
                <a:latin typeface="Arial"/>
                <a:cs typeface="Arial"/>
              </a:rPr>
              <a:t>gates.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41392" y="849839"/>
            <a:ext cx="24923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35">
                <a:solidFill>
                  <a:srgbClr val="265DF4"/>
                </a:solidFill>
                <a:latin typeface="Arial"/>
                <a:cs typeface="Arial"/>
              </a:rPr>
              <a:t>E</a:t>
            </a:r>
            <a:r>
              <a:rPr dirty="0" sz="1800" spc="-250">
                <a:solidFill>
                  <a:srgbClr val="265DF4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3F5DDB"/>
                </a:solidFill>
                <a:latin typeface="Arial"/>
                <a:cs typeface="Arial"/>
              </a:rPr>
              <a:t>C</a:t>
            </a:r>
            <a:r>
              <a:rPr dirty="0" sz="1800" spc="-240">
                <a:solidFill>
                  <a:srgbClr val="3F5DDB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860D1"/>
                </a:solidFill>
                <a:latin typeface="Arial"/>
                <a:cs typeface="Arial"/>
              </a:rPr>
              <a:t>0</a:t>
            </a:r>
            <a:r>
              <a:rPr dirty="0" sz="1800" spc="-20">
                <a:solidFill>
                  <a:srgbClr val="3860D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660D4"/>
                </a:solidFill>
                <a:latin typeface="Arial"/>
                <a:cs typeface="Arial"/>
              </a:rPr>
              <a:t>SY</a:t>
            </a:r>
            <a:r>
              <a:rPr dirty="0" sz="1800" spc="-185">
                <a:solidFill>
                  <a:srgbClr val="3660D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364C4"/>
                </a:solidFill>
                <a:latin typeface="Arial"/>
                <a:cs typeface="Arial"/>
              </a:rPr>
              <a:t>ST</a:t>
            </a:r>
            <a:r>
              <a:rPr dirty="0" sz="1800" spc="-270">
                <a:solidFill>
                  <a:srgbClr val="2364C4"/>
                </a:solidFill>
                <a:latin typeface="Arial"/>
                <a:cs typeface="Arial"/>
              </a:rPr>
              <a:t> </a:t>
            </a:r>
            <a:r>
              <a:rPr dirty="0" sz="1800" spc="-235">
                <a:solidFill>
                  <a:srgbClr val="365BDF"/>
                </a:solidFill>
                <a:latin typeface="Arial"/>
                <a:cs typeface="Arial"/>
              </a:rPr>
              <a:t>E</a:t>
            </a:r>
            <a:r>
              <a:rPr dirty="0" sz="1800" spc="-295">
                <a:solidFill>
                  <a:srgbClr val="365BDF"/>
                </a:solidFill>
                <a:latin typeface="Arial"/>
                <a:cs typeface="Arial"/>
              </a:rPr>
              <a:t> </a:t>
            </a:r>
            <a:r>
              <a:rPr dirty="0" sz="1800" spc="120">
                <a:solidFill>
                  <a:srgbClr val="215EED"/>
                </a:solidFill>
                <a:latin typeface="Arial"/>
                <a:cs typeface="Arial"/>
              </a:rPr>
              <a:t>M</a:t>
            </a:r>
            <a:r>
              <a:rPr dirty="0" sz="1800" spc="290">
                <a:solidFill>
                  <a:srgbClr val="215EED"/>
                </a:solidFill>
                <a:latin typeface="Arial"/>
                <a:cs typeface="Arial"/>
              </a:rPr>
              <a:t> </a:t>
            </a:r>
            <a:r>
              <a:rPr dirty="0" sz="1800" spc="-260">
                <a:solidFill>
                  <a:srgbClr val="345BE6"/>
                </a:solidFill>
                <a:latin typeface="Arial"/>
                <a:cs typeface="Arial"/>
              </a:rPr>
              <a:t>R</a:t>
            </a:r>
            <a:r>
              <a:rPr dirty="0" sz="1800" spc="-180">
                <a:solidFill>
                  <a:srgbClr val="345BE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62D8"/>
                </a:solidFill>
                <a:latin typeface="Arial"/>
                <a:cs typeface="Arial"/>
              </a:rPr>
              <a:t>0</a:t>
            </a:r>
            <a:r>
              <a:rPr dirty="0" sz="1800" spc="145">
                <a:solidFill>
                  <a:srgbClr val="3362D8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2660D4"/>
                </a:solidFill>
                <a:latin typeface="Arial"/>
                <a:cs typeface="Arial"/>
              </a:rPr>
              <a:t>LE</a:t>
            </a:r>
            <a:r>
              <a:rPr dirty="0" sz="1800" spc="-260">
                <a:solidFill>
                  <a:srgbClr val="2660D4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3D79BC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dirty="0" sz="4900" spc="-30">
                <a:solidFill>
                  <a:srgbClr val="131313"/>
                </a:solidFill>
                <a:latin typeface="Calibri"/>
                <a:cs typeface="Calibri"/>
              </a:rPr>
              <a:t>Tailored</a:t>
            </a:r>
            <a:r>
              <a:rPr dirty="0" sz="4900" spc="-29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4900" spc="55">
                <a:solidFill>
                  <a:srgbClr val="151515"/>
                </a:solidFill>
                <a:latin typeface="Calibri"/>
                <a:cs typeface="Calibri"/>
              </a:rPr>
              <a:t>Portals</a:t>
            </a:r>
            <a:r>
              <a:rPr dirty="0" sz="4900" spc="-13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900" spc="-10">
                <a:solidFill>
                  <a:srgbClr val="161616"/>
                </a:solidFill>
                <a:latin typeface="Calibri"/>
                <a:cs typeface="Calibri"/>
              </a:rPr>
              <a:t>for</a:t>
            </a:r>
            <a:r>
              <a:rPr dirty="0" sz="4900" spc="-39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900" spc="60">
                <a:solidFill>
                  <a:srgbClr val="161616"/>
                </a:solidFill>
                <a:latin typeface="Calibri"/>
                <a:cs typeface="Calibri"/>
              </a:rPr>
              <a:t>Every</a:t>
            </a:r>
            <a:r>
              <a:rPr dirty="0" sz="4900" spc="-29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900" spc="-20">
                <a:solidFill>
                  <a:srgbClr val="131313"/>
                </a:solidFill>
                <a:latin typeface="Calibri"/>
                <a:cs typeface="Calibri"/>
              </a:rPr>
              <a:t>User</a:t>
            </a:r>
            <a:endParaRPr sz="49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696" y="5465802"/>
            <a:ext cx="596840" cy="5340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4632" y="5465802"/>
            <a:ext cx="518308" cy="5340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8743" y="5497214"/>
            <a:ext cx="526161" cy="4711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24032" y="6176695"/>
            <a:ext cx="3348354" cy="13512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190">
                <a:solidFill>
                  <a:srgbClr val="0E0E0E"/>
                </a:solidFill>
                <a:latin typeface="Calibri"/>
                <a:cs typeface="Calibri"/>
              </a:rPr>
              <a:t>Residents</a:t>
            </a:r>
            <a:endParaRPr sz="2800">
              <a:latin typeface="Calibri"/>
              <a:cs typeface="Calibri"/>
            </a:endParaRPr>
          </a:p>
          <a:p>
            <a:pPr marL="23495" marR="5080" indent="-10160">
              <a:lnSpc>
                <a:spcPts val="2600"/>
              </a:lnSpc>
              <a:spcBef>
                <a:spcPts val="1070"/>
              </a:spcBef>
            </a:pPr>
            <a:r>
              <a:rPr dirty="0" sz="2450">
                <a:solidFill>
                  <a:srgbClr val="6E6E6E"/>
                </a:solidFill>
                <a:latin typeface="Arial"/>
                <a:cs typeface="Arial"/>
              </a:rPr>
              <a:t>Issue</a:t>
            </a:r>
            <a:r>
              <a:rPr dirty="0" sz="2450" spc="-10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 spc="-30">
                <a:solidFill>
                  <a:srgbClr val="6E6E6E"/>
                </a:solidFill>
                <a:latin typeface="Arial"/>
                <a:cs typeface="Arial"/>
              </a:rPr>
              <a:t>passes</a:t>
            </a:r>
            <a:r>
              <a:rPr dirty="0" sz="2450" spc="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 spc="-45">
                <a:solidFill>
                  <a:srgbClr val="6D6D6D"/>
                </a:solidFill>
                <a:latin typeface="Arial"/>
                <a:cs typeface="Arial"/>
              </a:rPr>
              <a:t>and</a:t>
            </a:r>
            <a:r>
              <a:rPr dirty="0" sz="2450" spc="-12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07070"/>
                </a:solidFill>
                <a:latin typeface="Arial"/>
                <a:cs typeface="Arial"/>
              </a:rPr>
              <a:t>trigger </a:t>
            </a:r>
            <a:r>
              <a:rPr dirty="0" sz="2450" spc="-25">
                <a:solidFill>
                  <a:srgbClr val="626262"/>
                </a:solidFill>
                <a:latin typeface="Arial"/>
                <a:cs typeface="Arial"/>
              </a:rPr>
              <a:t>emergency</a:t>
            </a:r>
            <a:r>
              <a:rPr dirty="0" sz="2450" spc="5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06060"/>
                </a:solidFill>
                <a:latin typeface="Arial"/>
                <a:cs typeface="Arial"/>
              </a:rPr>
              <a:t>alarms.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38085" y="6193641"/>
            <a:ext cx="4210050" cy="13341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800" spc="235">
                <a:solidFill>
                  <a:srgbClr val="111111"/>
                </a:solidFill>
                <a:latin typeface="Calibri"/>
                <a:cs typeface="Calibri"/>
              </a:rPr>
              <a:t>Guards</a:t>
            </a:r>
            <a:r>
              <a:rPr dirty="0" sz="2800" spc="-5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800" spc="130">
                <a:solidFill>
                  <a:srgbClr val="131313"/>
                </a:solidFill>
                <a:latin typeface="Calibri"/>
                <a:cs typeface="Calibri"/>
              </a:rPr>
              <a:t>&amp;</a:t>
            </a:r>
            <a:r>
              <a:rPr dirty="0" sz="2800" spc="-16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2800" spc="150">
                <a:solidFill>
                  <a:srgbClr val="181818"/>
                </a:solidFill>
                <a:latin typeface="Calibri"/>
                <a:cs typeface="Calibri"/>
              </a:rPr>
              <a:t>Patrols</a:t>
            </a:r>
            <a:endParaRPr sz="2800">
              <a:latin typeface="Calibri"/>
              <a:cs typeface="Calibri"/>
            </a:endParaRPr>
          </a:p>
          <a:p>
            <a:pPr marL="16510" marR="5080" indent="5715">
              <a:lnSpc>
                <a:spcPts val="2600"/>
              </a:lnSpc>
              <a:spcBef>
                <a:spcPts val="1010"/>
              </a:spcBef>
            </a:pPr>
            <a:r>
              <a:rPr dirty="0" sz="2450" spc="-90">
                <a:solidFill>
                  <a:srgbClr val="6D7C8C"/>
                </a:solidFill>
                <a:latin typeface="Arial"/>
                <a:cs typeface="Arial"/>
              </a:rPr>
              <a:t>Scan</a:t>
            </a:r>
            <a:r>
              <a:rPr dirty="0" sz="2450" spc="-80">
                <a:solidFill>
                  <a:srgbClr val="6D7C8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26B7B"/>
                </a:solidFill>
                <a:latin typeface="Arial"/>
                <a:cs typeface="Arial"/>
              </a:rPr>
              <a:t>gate</a:t>
            </a:r>
            <a:r>
              <a:rPr dirty="0" sz="2450" spc="-110">
                <a:solidFill>
                  <a:srgbClr val="626B7B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8C91A5"/>
                </a:solidFill>
                <a:latin typeface="Arial"/>
                <a:cs typeface="Arial"/>
              </a:rPr>
              <a:t>codes</a:t>
            </a:r>
            <a:r>
              <a:rPr dirty="0" sz="2450" spc="-85">
                <a:solidFill>
                  <a:srgbClr val="8C91A5"/>
                </a:solidFill>
                <a:latin typeface="Arial"/>
                <a:cs typeface="Arial"/>
              </a:rPr>
              <a:t> </a:t>
            </a:r>
            <a:r>
              <a:rPr dirty="0" sz="2450" spc="-45">
                <a:solidFill>
                  <a:srgbClr val="6E6E6E"/>
                </a:solidFill>
                <a:latin typeface="Arial"/>
                <a:cs typeface="Arial"/>
              </a:rPr>
              <a:t>and</a:t>
            </a:r>
            <a:r>
              <a:rPr dirty="0" sz="2450" spc="-12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67480"/>
                </a:solidFill>
                <a:latin typeface="Arial"/>
                <a:cs typeface="Arial"/>
              </a:rPr>
              <a:t>log</a:t>
            </a:r>
            <a:r>
              <a:rPr dirty="0" sz="2450" spc="-155">
                <a:solidFill>
                  <a:srgbClr val="667480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597787"/>
                </a:solidFill>
                <a:latin typeface="Arial"/>
                <a:cs typeface="Arial"/>
              </a:rPr>
              <a:t>active </a:t>
            </a:r>
            <a:r>
              <a:rPr dirty="0" sz="2450" spc="-10">
                <a:solidFill>
                  <a:srgbClr val="646464"/>
                </a:solidFill>
                <a:latin typeface="Arial"/>
                <a:cs typeface="Arial"/>
              </a:rPr>
              <a:t>checkpoints.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7684" y="6159646"/>
            <a:ext cx="4572635" cy="13684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950" spc="-10">
                <a:solidFill>
                  <a:srgbClr val="0C0C0C"/>
                </a:solidFill>
                <a:latin typeface="Arial"/>
                <a:cs typeface="Arial"/>
              </a:rPr>
              <a:t>Estate</a:t>
            </a:r>
            <a:r>
              <a:rPr dirty="0" sz="2950" spc="-26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F0F0F"/>
                </a:solidFill>
                <a:latin typeface="Arial"/>
                <a:cs typeface="Arial"/>
              </a:rPr>
              <a:t>Managers</a:t>
            </a:r>
            <a:endParaRPr sz="2950">
              <a:latin typeface="Arial"/>
              <a:cs typeface="Arial"/>
            </a:endParaRPr>
          </a:p>
          <a:p>
            <a:pPr marL="21590" marR="5080" indent="-3810">
              <a:lnSpc>
                <a:spcPts val="2600"/>
              </a:lnSpc>
              <a:spcBef>
                <a:spcPts val="1045"/>
              </a:spcBef>
            </a:pPr>
            <a:r>
              <a:rPr dirty="0" sz="2450" spc="-50">
                <a:solidFill>
                  <a:srgbClr val="707070"/>
                </a:solidFill>
                <a:latin typeface="Arial"/>
                <a:cs typeface="Arial"/>
              </a:rPr>
              <a:t>Review</a:t>
            </a:r>
            <a:r>
              <a:rPr dirty="0" sz="2450" spc="35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47B90"/>
                </a:solidFill>
                <a:latin typeface="Arial"/>
                <a:cs typeface="Arial"/>
              </a:rPr>
              <a:t>shift</a:t>
            </a:r>
            <a:r>
              <a:rPr dirty="0" sz="2450" spc="-105">
                <a:solidFill>
                  <a:srgbClr val="647B90"/>
                </a:solidFill>
                <a:latin typeface="Arial"/>
                <a:cs typeface="Arial"/>
              </a:rPr>
              <a:t> </a:t>
            </a:r>
            <a:r>
              <a:rPr dirty="0" sz="2450" spc="-45">
                <a:solidFill>
                  <a:srgbClr val="6B6B6B"/>
                </a:solidFill>
                <a:latin typeface="Arial"/>
                <a:cs typeface="Arial"/>
              </a:rPr>
              <a:t>analytics</a:t>
            </a:r>
            <a:r>
              <a:rPr dirty="0" sz="2450" spc="2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450" spc="-45">
                <a:solidFill>
                  <a:srgbClr val="6E6E6E"/>
                </a:solidFill>
                <a:latin typeface="Arial"/>
                <a:cs typeface="Arial"/>
              </a:rPr>
              <a:t>and</a:t>
            </a:r>
            <a:r>
              <a:rPr dirty="0" sz="2450" spc="-12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D8393"/>
                </a:solidFill>
                <a:latin typeface="Arial"/>
                <a:cs typeface="Arial"/>
              </a:rPr>
              <a:t>resolve </a:t>
            </a:r>
            <a:r>
              <a:rPr dirty="0" sz="2450" spc="-10">
                <a:solidFill>
                  <a:srgbClr val="6E6E6E"/>
                </a:solidFill>
                <a:latin typeface="Arial"/>
                <a:cs typeface="Arial"/>
              </a:rPr>
              <a:t>incident</a:t>
            </a:r>
            <a:r>
              <a:rPr dirty="0" sz="2450" spc="-114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96969"/>
                </a:solidFill>
                <a:latin typeface="Arial"/>
                <a:cs typeface="Arial"/>
              </a:rPr>
              <a:t>logs.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48102" y="849839"/>
            <a:ext cx="27190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solidFill>
                  <a:srgbClr val="385DD1"/>
                </a:solidFill>
                <a:latin typeface="Arial"/>
                <a:cs typeface="Arial"/>
              </a:rPr>
              <a:t>C</a:t>
            </a:r>
            <a:r>
              <a:rPr dirty="0" sz="1800" spc="-240">
                <a:solidFill>
                  <a:srgbClr val="385DD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F5DCD"/>
                </a:solidFill>
                <a:latin typeface="Arial"/>
                <a:cs typeface="Arial"/>
              </a:rPr>
              <a:t>0</a:t>
            </a:r>
            <a:r>
              <a:rPr dirty="0" sz="1800" spc="-55">
                <a:solidFill>
                  <a:srgbClr val="3F5DCD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60EB"/>
                </a:solidFill>
                <a:latin typeface="Arial"/>
                <a:cs typeface="Arial"/>
              </a:rPr>
              <a:t>RE</a:t>
            </a:r>
            <a:r>
              <a:rPr dirty="0" sz="1800" spc="395">
                <a:solidFill>
                  <a:srgbClr val="2160EB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2F5BC4"/>
                </a:solidFill>
                <a:latin typeface="Arial"/>
                <a:cs typeface="Arial"/>
              </a:rPr>
              <a:t>AR</a:t>
            </a:r>
            <a:r>
              <a:rPr dirty="0" sz="1800" spc="-190">
                <a:solidFill>
                  <a:srgbClr val="2F5BC4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3D5DC4"/>
                </a:solidFill>
                <a:latin typeface="Arial"/>
                <a:cs typeface="Arial"/>
              </a:rPr>
              <a:t>C</a:t>
            </a:r>
            <a:r>
              <a:rPr dirty="0" sz="1800" spc="-305">
                <a:solidFill>
                  <a:srgbClr val="3D5DC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F67DD"/>
                </a:solidFill>
                <a:latin typeface="Arial"/>
                <a:cs typeface="Arial"/>
              </a:rPr>
              <a:t>H</a:t>
            </a:r>
            <a:r>
              <a:rPr dirty="0" sz="1800">
                <a:solidFill>
                  <a:srgbClr val="2F67CA"/>
                </a:solidFill>
                <a:latin typeface="Arial"/>
                <a:cs typeface="Arial"/>
              </a:rPr>
              <a:t>IT</a:t>
            </a:r>
            <a:r>
              <a:rPr dirty="0" sz="1800" spc="-130">
                <a:solidFill>
                  <a:srgbClr val="2F67CA"/>
                </a:solidFill>
                <a:latin typeface="Arial"/>
                <a:cs typeface="Arial"/>
              </a:rPr>
              <a:t> </a:t>
            </a:r>
            <a:r>
              <a:rPr dirty="0" sz="1800" spc="-235">
                <a:solidFill>
                  <a:srgbClr val="185ED3"/>
                </a:solidFill>
                <a:latin typeface="Arial"/>
                <a:cs typeface="Arial"/>
              </a:rPr>
              <a:t>E</a:t>
            </a:r>
            <a:r>
              <a:rPr dirty="0" sz="1800" spc="-250">
                <a:solidFill>
                  <a:srgbClr val="185ED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85DD1"/>
                </a:solidFill>
                <a:latin typeface="Arial"/>
                <a:cs typeface="Arial"/>
              </a:rPr>
              <a:t>CT</a:t>
            </a:r>
            <a:r>
              <a:rPr dirty="0" sz="1800" spc="-260">
                <a:solidFill>
                  <a:srgbClr val="385DD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F5EA5"/>
                </a:solidFill>
                <a:latin typeface="Arial"/>
                <a:cs typeface="Arial"/>
              </a:rPr>
              <a:t>U</a:t>
            </a:r>
            <a:r>
              <a:rPr dirty="0" sz="1800" spc="-25">
                <a:solidFill>
                  <a:srgbClr val="2D64E2"/>
                </a:solidFill>
                <a:latin typeface="Arial"/>
                <a:cs typeface="Arial"/>
              </a:rPr>
              <a:t>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135"/>
              </a:spcBef>
            </a:pPr>
            <a:r>
              <a:rPr dirty="0" sz="4600" spc="375">
                <a:solidFill>
                  <a:srgbClr val="151515"/>
                </a:solidFill>
                <a:latin typeface="Calibri"/>
                <a:cs typeface="Calibri"/>
              </a:rPr>
              <a:t>End-</a:t>
            </a:r>
            <a:r>
              <a:rPr dirty="0" sz="4600" spc="315">
                <a:solidFill>
                  <a:srgbClr val="151515"/>
                </a:solidFill>
                <a:latin typeface="Calibri"/>
                <a:cs typeface="Calibri"/>
              </a:rPr>
              <a:t>to-</a:t>
            </a:r>
            <a:r>
              <a:rPr dirty="0" sz="4600" spc="420">
                <a:solidFill>
                  <a:srgbClr val="151515"/>
                </a:solidFill>
                <a:latin typeface="Calibri"/>
                <a:cs typeface="Calibri"/>
              </a:rPr>
              <a:t>End</a:t>
            </a:r>
            <a:r>
              <a:rPr dirty="0" sz="4600" spc="-1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600" spc="195">
                <a:solidFill>
                  <a:srgbClr val="131313"/>
                </a:solidFill>
                <a:latin typeface="Calibri"/>
                <a:cs typeface="Calibri"/>
              </a:rPr>
              <a:t>Operational</a:t>
            </a:r>
            <a:r>
              <a:rPr dirty="0" sz="4600" spc="22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4600" spc="275">
                <a:solidFill>
                  <a:srgbClr val="161616"/>
                </a:solidFill>
                <a:latin typeface="Calibri"/>
                <a:cs typeface="Calibri"/>
              </a:rPr>
              <a:t>Safety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8814" y="5365408"/>
            <a:ext cx="3018790" cy="2052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 sz="3350" spc="-1310">
                <a:solidFill>
                  <a:srgbClr val="285EF7"/>
                </a:solidFill>
                <a:latin typeface="Arial"/>
                <a:cs typeface="Arial"/>
              </a:rPr>
              <a:t>e</a:t>
            </a:r>
            <a:r>
              <a:rPr dirty="0" baseline="-30612" sz="3675" spc="52">
                <a:solidFill>
                  <a:srgbClr val="1D60EF"/>
                </a:solidFill>
                <a:latin typeface="Arial"/>
                <a:cs typeface="Arial"/>
              </a:rPr>
              <a:t>I</a:t>
            </a:r>
            <a:endParaRPr baseline="-30612" sz="3675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2815"/>
              </a:spcBef>
            </a:pPr>
            <a:r>
              <a:rPr dirty="0" sz="2450" spc="-95">
                <a:solidFill>
                  <a:srgbClr val="151515"/>
                </a:solidFill>
                <a:latin typeface="Arial"/>
                <a:cs typeface="Arial"/>
              </a:rPr>
              <a:t>NFC</a:t>
            </a:r>
            <a:r>
              <a:rPr dirty="0" sz="2450" spc="-17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131313"/>
                </a:solidFill>
                <a:latin typeface="Arial"/>
                <a:cs typeface="Arial"/>
              </a:rPr>
              <a:t>Checkpoints</a:t>
            </a:r>
            <a:endParaRPr sz="2450">
              <a:latin typeface="Arial"/>
              <a:cs typeface="Arial"/>
            </a:endParaRPr>
          </a:p>
          <a:p>
            <a:pPr marL="41275" marR="30480" indent="-3810">
              <a:lnSpc>
                <a:spcPts val="2600"/>
              </a:lnSpc>
              <a:spcBef>
                <a:spcPts val="1015"/>
              </a:spcBef>
            </a:pPr>
            <a:r>
              <a:rPr dirty="0" sz="2450" spc="-45">
                <a:solidFill>
                  <a:srgbClr val="6E6E6E"/>
                </a:solidFill>
                <a:latin typeface="Arial"/>
                <a:cs typeface="Arial"/>
              </a:rPr>
              <a:t>Guaranteed</a:t>
            </a:r>
            <a:r>
              <a:rPr dirty="0" sz="2450" spc="-6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 spc="-40">
                <a:solidFill>
                  <a:srgbClr val="727272"/>
                </a:solidFill>
                <a:latin typeface="Arial"/>
                <a:cs typeface="Arial"/>
              </a:rPr>
              <a:t>perimeter </a:t>
            </a:r>
            <a:r>
              <a:rPr dirty="0" sz="2450">
                <a:solidFill>
                  <a:srgbClr val="6B6B6B"/>
                </a:solidFill>
                <a:latin typeface="Arial"/>
                <a:cs typeface="Arial"/>
              </a:rPr>
              <a:t>tap</a:t>
            </a:r>
            <a:r>
              <a:rPr dirty="0" sz="2450" spc="-12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06060"/>
                </a:solidFill>
                <a:latin typeface="Arial"/>
                <a:cs typeface="Arial"/>
              </a:rPr>
              <a:t>audits.</a:t>
            </a:r>
            <a:endParaRPr sz="24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4055" y="5607159"/>
            <a:ext cx="408364" cy="3533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0358" y="5583599"/>
            <a:ext cx="455483" cy="40051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6662" y="5607159"/>
            <a:ext cx="510455" cy="3533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80323" y="6151379"/>
            <a:ext cx="3411220" cy="12668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450">
                <a:solidFill>
                  <a:srgbClr val="0C0C0C"/>
                </a:solidFill>
                <a:latin typeface="Arial"/>
                <a:cs typeface="Arial"/>
              </a:rPr>
              <a:t>Photo</a:t>
            </a:r>
            <a:r>
              <a:rPr dirty="0" sz="2450" spc="-1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450" spc="80">
                <a:solidFill>
                  <a:srgbClr val="05132D"/>
                </a:solidFill>
                <a:latin typeface="Arial"/>
                <a:cs typeface="Arial"/>
              </a:rPr>
              <a:t>Incident </a:t>
            </a:r>
            <a:r>
              <a:rPr dirty="0" sz="2450" spc="-25">
                <a:solidFill>
                  <a:srgbClr val="0F0F0F"/>
                </a:solidFill>
                <a:latin typeface="Arial"/>
                <a:cs typeface="Arial"/>
              </a:rPr>
              <a:t>Log</a:t>
            </a:r>
            <a:endParaRPr sz="2450">
              <a:latin typeface="Arial"/>
              <a:cs typeface="Arial"/>
            </a:endParaRPr>
          </a:p>
          <a:p>
            <a:pPr marL="16510" marR="5080" indent="-4445">
              <a:lnSpc>
                <a:spcPts val="2600"/>
              </a:lnSpc>
              <a:spcBef>
                <a:spcPts val="1015"/>
              </a:spcBef>
            </a:pPr>
            <a:r>
              <a:rPr dirty="0" sz="2450" spc="-30">
                <a:solidFill>
                  <a:srgbClr val="676767"/>
                </a:solidFill>
                <a:latin typeface="Arial"/>
                <a:cs typeface="Arial"/>
              </a:rPr>
              <a:t>Encrypted</a:t>
            </a:r>
            <a:r>
              <a:rPr dirty="0" sz="2450" spc="-1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B6B6B"/>
                </a:solidFill>
                <a:latin typeface="Arial"/>
                <a:cs typeface="Arial"/>
              </a:rPr>
              <a:t>photo-</a:t>
            </a:r>
            <a:r>
              <a:rPr dirty="0" sz="2450" spc="-10">
                <a:solidFill>
                  <a:srgbClr val="6B6B6B"/>
                </a:solidFill>
                <a:latin typeface="Arial"/>
                <a:cs typeface="Arial"/>
              </a:rPr>
              <a:t>verified </a:t>
            </a:r>
            <a:r>
              <a:rPr dirty="0" sz="2450" spc="-40">
                <a:solidFill>
                  <a:srgbClr val="727E8C"/>
                </a:solidFill>
                <a:latin typeface="Arial"/>
                <a:cs typeface="Arial"/>
              </a:rPr>
              <a:t>hazard</a:t>
            </a:r>
            <a:r>
              <a:rPr dirty="0" sz="2450" spc="-110">
                <a:solidFill>
                  <a:srgbClr val="727E8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76767"/>
                </a:solidFill>
                <a:latin typeface="Arial"/>
                <a:cs typeface="Arial"/>
              </a:rPr>
              <a:t>reporting.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57234" y="6151379"/>
            <a:ext cx="2924175" cy="12668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450" spc="75">
                <a:solidFill>
                  <a:srgbClr val="0C0C0C"/>
                </a:solidFill>
                <a:latin typeface="Arial"/>
                <a:cs typeface="Arial"/>
              </a:rPr>
              <a:t>Pre-</a:t>
            </a:r>
            <a:r>
              <a:rPr dirty="0" sz="2450" spc="80">
                <a:solidFill>
                  <a:srgbClr val="0C0C0C"/>
                </a:solidFill>
                <a:latin typeface="Arial"/>
                <a:cs typeface="Arial"/>
              </a:rPr>
              <a:t>Cleared</a:t>
            </a:r>
            <a:r>
              <a:rPr dirty="0" sz="2450" spc="-8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000C2F"/>
                </a:solidFill>
                <a:latin typeface="Arial"/>
                <a:cs typeface="Arial"/>
              </a:rPr>
              <a:t>Guests</a:t>
            </a:r>
            <a:endParaRPr sz="2450">
              <a:latin typeface="Arial"/>
              <a:cs typeface="Arial"/>
            </a:endParaRPr>
          </a:p>
          <a:p>
            <a:pPr marL="17145" marR="370205" indent="5080">
              <a:lnSpc>
                <a:spcPts val="2600"/>
              </a:lnSpc>
              <a:spcBef>
                <a:spcPts val="1015"/>
              </a:spcBef>
            </a:pPr>
            <a:r>
              <a:rPr dirty="0" sz="2450" spc="-40">
                <a:solidFill>
                  <a:srgbClr val="6E7580"/>
                </a:solidFill>
                <a:latin typeface="Arial"/>
                <a:cs typeface="Arial"/>
              </a:rPr>
              <a:t>Zero</a:t>
            </a:r>
            <a:r>
              <a:rPr dirty="0" sz="2450" spc="-114">
                <a:solidFill>
                  <a:srgbClr val="6E7580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5B5B5B"/>
                </a:solidFill>
                <a:latin typeface="Arial"/>
                <a:cs typeface="Arial"/>
              </a:rPr>
              <a:t>congestion</a:t>
            </a:r>
            <a:r>
              <a:rPr dirty="0" sz="2450" spc="7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727272"/>
                </a:solidFill>
                <a:latin typeface="Arial"/>
                <a:cs typeface="Arial"/>
              </a:rPr>
              <a:t>at </a:t>
            </a:r>
            <a:r>
              <a:rPr dirty="0" sz="2450" spc="-10">
                <a:solidFill>
                  <a:srgbClr val="6D6D6D"/>
                </a:solidFill>
                <a:latin typeface="Arial"/>
                <a:cs typeface="Arial"/>
              </a:rPr>
              <a:t>entrance</a:t>
            </a:r>
            <a:r>
              <a:rPr dirty="0" sz="2450" spc="-3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07070"/>
                </a:solidFill>
                <a:latin typeface="Arial"/>
                <a:cs typeface="Arial"/>
              </a:rPr>
              <a:t>booms.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37527" y="6151379"/>
            <a:ext cx="2752725" cy="1266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 marR="922655" indent="-635">
              <a:lnSpc>
                <a:spcPct val="122000"/>
              </a:lnSpc>
              <a:spcBef>
                <a:spcPts val="100"/>
              </a:spcBef>
            </a:pPr>
            <a:r>
              <a:rPr dirty="0" sz="2450" spc="70">
                <a:solidFill>
                  <a:srgbClr val="161616"/>
                </a:solidFill>
                <a:latin typeface="Arial"/>
                <a:cs typeface="Arial"/>
              </a:rPr>
              <a:t>Audit</a:t>
            </a:r>
            <a:r>
              <a:rPr dirty="0" sz="2450" spc="-12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61616"/>
                </a:solidFill>
                <a:latin typeface="Arial"/>
                <a:cs typeface="Arial"/>
              </a:rPr>
              <a:t>Trail </a:t>
            </a:r>
            <a:r>
              <a:rPr dirty="0" sz="2450" spc="-65">
                <a:solidFill>
                  <a:srgbClr val="696969"/>
                </a:solidFill>
                <a:latin typeface="Arial"/>
                <a:cs typeface="Arial"/>
              </a:rPr>
              <a:t>Tamper-</a:t>
            </a:r>
            <a:r>
              <a:rPr dirty="0" sz="2450" spc="-55">
                <a:solidFill>
                  <a:srgbClr val="696969"/>
                </a:solidFill>
                <a:latin typeface="Arial"/>
                <a:cs typeface="Arial"/>
              </a:rPr>
              <a:t>proof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ts val="2595"/>
              </a:lnSpc>
            </a:pPr>
            <a:r>
              <a:rPr dirty="0" sz="2450" spc="-50">
                <a:solidFill>
                  <a:srgbClr val="727272"/>
                </a:solidFill>
                <a:latin typeface="Arial"/>
                <a:cs typeface="Arial"/>
              </a:rPr>
              <a:t>compliance</a:t>
            </a:r>
            <a:r>
              <a:rPr dirty="0" sz="2450" spc="5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76767"/>
                </a:solidFill>
                <a:latin typeface="Arial"/>
                <a:cs typeface="Arial"/>
              </a:rPr>
              <a:t>records.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41506" y="849839"/>
            <a:ext cx="336105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4">
                <a:solidFill>
                  <a:srgbClr val="2667EB"/>
                </a:solidFill>
                <a:latin typeface="Arial"/>
                <a:cs typeface="Arial"/>
              </a:rPr>
              <a:t>RE</a:t>
            </a:r>
            <a:r>
              <a:rPr dirty="0" sz="1800" spc="-245">
                <a:solidFill>
                  <a:srgbClr val="2667EB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3D75D6"/>
                </a:solidFill>
                <a:latin typeface="Arial"/>
                <a:cs typeface="Arial"/>
              </a:rPr>
              <a:t>S</a:t>
            </a:r>
            <a:r>
              <a:rPr dirty="0" sz="1800" spc="-30">
                <a:solidFill>
                  <a:srgbClr val="1F66F4"/>
                </a:solidFill>
                <a:latin typeface="Arial"/>
                <a:cs typeface="Arial"/>
              </a:rPr>
              <a:t>P</a:t>
            </a:r>
            <a:r>
              <a:rPr dirty="0" sz="1800" spc="-245">
                <a:solidFill>
                  <a:srgbClr val="1F66F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662CF"/>
                </a:solidFill>
                <a:latin typeface="Arial"/>
                <a:cs typeface="Arial"/>
              </a:rPr>
              <a:t>0</a:t>
            </a:r>
            <a:r>
              <a:rPr dirty="0" sz="1800" spc="-125">
                <a:solidFill>
                  <a:srgbClr val="3662C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862F9"/>
                </a:solidFill>
                <a:latin typeface="Arial"/>
                <a:cs typeface="Arial"/>
              </a:rPr>
              <a:t>N</a:t>
            </a:r>
            <a:r>
              <a:rPr dirty="0" sz="1800" spc="-215">
                <a:solidFill>
                  <a:srgbClr val="1862F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A64CD"/>
                </a:solidFill>
                <a:latin typeface="Arial"/>
                <a:cs typeface="Arial"/>
              </a:rPr>
              <a:t>S</a:t>
            </a:r>
            <a:r>
              <a:rPr dirty="0" sz="1800">
                <a:solidFill>
                  <a:srgbClr val="2462EB"/>
                </a:solidFill>
                <a:latin typeface="Arial"/>
                <a:cs typeface="Arial"/>
              </a:rPr>
              <a:t>E</a:t>
            </a:r>
            <a:r>
              <a:rPr dirty="0" sz="1800" spc="275">
                <a:solidFill>
                  <a:srgbClr val="2462EB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3D60EB"/>
                </a:solidFill>
                <a:latin typeface="Arial"/>
                <a:cs typeface="Arial"/>
              </a:rPr>
              <a:t>P</a:t>
            </a:r>
            <a:r>
              <a:rPr dirty="0" sz="1800" spc="-315">
                <a:solidFill>
                  <a:srgbClr val="3D60EB"/>
                </a:solidFill>
                <a:latin typeface="Arial"/>
                <a:cs typeface="Arial"/>
              </a:rPr>
              <a:t> </a:t>
            </a:r>
            <a:r>
              <a:rPr dirty="0" sz="1800" spc="-160">
                <a:solidFill>
                  <a:srgbClr val="1C54EF"/>
                </a:solidFill>
                <a:latin typeface="Arial"/>
                <a:cs typeface="Arial"/>
              </a:rPr>
              <a:t>ER</a:t>
            </a:r>
            <a:r>
              <a:rPr dirty="0" sz="1800" spc="-240">
                <a:solidFill>
                  <a:srgbClr val="1C54EF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3160D6"/>
                </a:solidFill>
                <a:latin typeface="Arial"/>
                <a:cs typeface="Arial"/>
              </a:rPr>
              <a:t>F</a:t>
            </a:r>
            <a:r>
              <a:rPr dirty="0" sz="1800" spc="-245">
                <a:solidFill>
                  <a:srgbClr val="3160D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B5BCD"/>
                </a:solidFill>
                <a:latin typeface="Arial"/>
                <a:cs typeface="Arial"/>
              </a:rPr>
              <a:t>0</a:t>
            </a:r>
            <a:r>
              <a:rPr dirty="0" sz="1800" spc="35">
                <a:solidFill>
                  <a:srgbClr val="3B5BCD"/>
                </a:solidFill>
                <a:latin typeface="Arial"/>
                <a:cs typeface="Arial"/>
              </a:rPr>
              <a:t> </a:t>
            </a:r>
            <a:r>
              <a:rPr dirty="0" sz="1800" spc="-260">
                <a:solidFill>
                  <a:srgbClr val="2667EB"/>
                </a:solidFill>
                <a:latin typeface="Arial"/>
                <a:cs typeface="Arial"/>
              </a:rPr>
              <a:t>R</a:t>
            </a:r>
            <a:r>
              <a:rPr dirty="0" sz="1800" spc="-240">
                <a:solidFill>
                  <a:srgbClr val="2667EB"/>
                </a:solidFill>
                <a:latin typeface="Arial"/>
                <a:cs typeface="Arial"/>
              </a:rPr>
              <a:t> </a:t>
            </a:r>
            <a:r>
              <a:rPr dirty="0" sz="1800" spc="120">
                <a:solidFill>
                  <a:srgbClr val="2D62FF"/>
                </a:solidFill>
                <a:latin typeface="Arial"/>
                <a:cs typeface="Arial"/>
              </a:rPr>
              <a:t>M</a:t>
            </a:r>
            <a:r>
              <a:rPr dirty="0" sz="1800" spc="-254">
                <a:solidFill>
                  <a:srgbClr val="2D62FF"/>
                </a:solidFill>
                <a:latin typeface="Arial"/>
                <a:cs typeface="Arial"/>
              </a:rPr>
              <a:t> </a:t>
            </a:r>
            <a:r>
              <a:rPr dirty="0" sz="1800" spc="-120">
                <a:solidFill>
                  <a:srgbClr val="4467EF"/>
                </a:solidFill>
                <a:latin typeface="Arial"/>
                <a:cs typeface="Arial"/>
              </a:rPr>
              <a:t>A</a:t>
            </a:r>
            <a:r>
              <a:rPr dirty="0" sz="1800" spc="-240">
                <a:solidFill>
                  <a:srgbClr val="4467E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70E4"/>
                </a:solidFill>
                <a:latin typeface="Arial"/>
                <a:cs typeface="Arial"/>
              </a:rPr>
              <a:t>N</a:t>
            </a:r>
            <a:r>
              <a:rPr dirty="0" sz="1800" spc="-225">
                <a:solidFill>
                  <a:srgbClr val="2170E4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3460CD"/>
                </a:solidFill>
                <a:latin typeface="Arial"/>
                <a:cs typeface="Arial"/>
              </a:rPr>
              <a:t>C</a:t>
            </a:r>
            <a:r>
              <a:rPr dirty="0" sz="1800" spc="-305">
                <a:solidFill>
                  <a:srgbClr val="3460CD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2664DD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135"/>
              </a:spcBef>
            </a:pPr>
            <a:r>
              <a:rPr dirty="0" sz="4600" spc="185">
                <a:solidFill>
                  <a:srgbClr val="151515"/>
                </a:solidFill>
                <a:latin typeface="Calibri"/>
                <a:cs typeface="Calibri"/>
              </a:rPr>
              <a:t>Incident</a:t>
            </a:r>
            <a:r>
              <a:rPr dirty="0" sz="4600" spc="-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600" spc="220">
                <a:solidFill>
                  <a:srgbClr val="131313"/>
                </a:solidFill>
                <a:latin typeface="Calibri"/>
                <a:cs typeface="Calibri"/>
              </a:rPr>
              <a:t>Escalation</a:t>
            </a:r>
            <a:r>
              <a:rPr dirty="0" sz="4600" spc="-3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4600" spc="395">
                <a:latin typeface="Calibri"/>
                <a:cs typeface="Calibri"/>
              </a:rPr>
              <a:t>Speed</a:t>
            </a:r>
            <a:endParaRPr sz="46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672540" y="4955346"/>
            <a:ext cx="4829810" cy="1358900"/>
            <a:chOff x="7672540" y="4955346"/>
            <a:chExt cx="4829810" cy="135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60414" y="4955346"/>
              <a:ext cx="1013058" cy="13585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2540" y="4955346"/>
              <a:ext cx="4829695" cy="135859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602769" y="6608516"/>
            <a:ext cx="8898890" cy="143764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95"/>
              </a:spcBef>
            </a:pPr>
            <a:r>
              <a:rPr dirty="0" sz="3200" spc="-20">
                <a:solidFill>
                  <a:srgbClr val="161616"/>
                </a:solidFill>
                <a:latin typeface="Arial"/>
                <a:cs typeface="Arial"/>
              </a:rPr>
              <a:t>Average</a:t>
            </a:r>
            <a:r>
              <a:rPr dirty="0" sz="3200" spc="5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F0F0F"/>
                </a:solidFill>
                <a:latin typeface="Arial"/>
                <a:cs typeface="Arial"/>
              </a:rPr>
              <a:t>Verified</a:t>
            </a:r>
            <a:r>
              <a:rPr dirty="0" sz="3200" spc="-4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200" spc="-45">
                <a:solidFill>
                  <a:srgbClr val="151515"/>
                </a:solidFill>
                <a:latin typeface="Arial"/>
                <a:cs typeface="Arial"/>
              </a:rPr>
              <a:t>Guard</a:t>
            </a:r>
            <a:r>
              <a:rPr dirty="0" sz="3200" spc="-13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0F0F0F"/>
                </a:solidFill>
                <a:latin typeface="Arial"/>
                <a:cs typeface="Arial"/>
              </a:rPr>
              <a:t>Interception</a:t>
            </a:r>
            <a:r>
              <a:rPr dirty="0" sz="3200" spc="15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200" spc="-20">
                <a:solidFill>
                  <a:srgbClr val="0E1831"/>
                </a:solidFill>
                <a:latin typeface="Arial"/>
                <a:cs typeface="Arial"/>
              </a:rPr>
              <a:t>Time</a:t>
            </a:r>
            <a:endParaRPr sz="3200">
              <a:latin typeface="Arial"/>
              <a:cs typeface="Arial"/>
            </a:endParaRPr>
          </a:p>
          <a:p>
            <a:pPr algn="ctr" marL="12700" marR="5080">
              <a:lnSpc>
                <a:spcPts val="2600"/>
              </a:lnSpc>
              <a:spcBef>
                <a:spcPts val="1115"/>
              </a:spcBef>
            </a:pPr>
            <a:r>
              <a:rPr dirty="0" sz="2450" spc="-30">
                <a:solidFill>
                  <a:srgbClr val="676767"/>
                </a:solidFill>
                <a:latin typeface="Arial"/>
                <a:cs typeface="Arial"/>
              </a:rPr>
              <a:t>Automated</a:t>
            </a:r>
            <a:r>
              <a:rPr dirty="0" sz="2450" spc="-40">
                <a:solidFill>
                  <a:srgbClr val="676767"/>
                </a:solidFill>
                <a:latin typeface="Arial"/>
                <a:cs typeface="Arial"/>
              </a:rPr>
              <a:t> geolocation</a:t>
            </a:r>
            <a:r>
              <a:rPr dirty="0" sz="2450" spc="25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dirty="0" sz="2450" spc="-20">
                <a:solidFill>
                  <a:srgbClr val="6E6E6E"/>
                </a:solidFill>
                <a:latin typeface="Arial"/>
                <a:cs typeface="Arial"/>
              </a:rPr>
              <a:t>instantly</a:t>
            </a:r>
            <a:r>
              <a:rPr dirty="0" sz="2450" spc="-5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757575"/>
                </a:solidFill>
                <a:latin typeface="Arial"/>
                <a:cs typeface="Arial"/>
              </a:rPr>
              <a:t>routes</a:t>
            </a:r>
            <a:r>
              <a:rPr dirty="0" sz="2450" spc="-35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26262"/>
                </a:solidFill>
                <a:latin typeface="Arial"/>
                <a:cs typeface="Arial"/>
              </a:rPr>
              <a:t>the</a:t>
            </a:r>
            <a:r>
              <a:rPr dirty="0" sz="2450" spc="-9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66666"/>
                </a:solidFill>
                <a:latin typeface="Arial"/>
                <a:cs typeface="Arial"/>
              </a:rPr>
              <a:t>closest</a:t>
            </a:r>
            <a:r>
              <a:rPr dirty="0" sz="2450" spc="-6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58291"/>
                </a:solidFill>
                <a:latin typeface="Arial"/>
                <a:cs typeface="Arial"/>
              </a:rPr>
              <a:t>roving</a:t>
            </a:r>
            <a:r>
              <a:rPr dirty="0" sz="2450" spc="-70">
                <a:solidFill>
                  <a:srgbClr val="758291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96969"/>
                </a:solidFill>
                <a:latin typeface="Arial"/>
                <a:cs typeface="Arial"/>
              </a:rPr>
              <a:t>team</a:t>
            </a:r>
            <a:r>
              <a:rPr dirty="0" sz="2450" spc="-11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696969"/>
                </a:solidFill>
                <a:latin typeface="Arial"/>
                <a:cs typeface="Arial"/>
              </a:rPr>
              <a:t>to </a:t>
            </a:r>
            <a:r>
              <a:rPr dirty="0" sz="2450" spc="-35">
                <a:solidFill>
                  <a:srgbClr val="748593"/>
                </a:solidFill>
                <a:latin typeface="Arial"/>
                <a:cs typeface="Arial"/>
              </a:rPr>
              <a:t>panic</a:t>
            </a:r>
            <a:r>
              <a:rPr dirty="0" sz="2450" spc="-25">
                <a:solidFill>
                  <a:srgbClr val="748593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5B5B5B"/>
                </a:solidFill>
                <a:latin typeface="Arial"/>
                <a:cs typeface="Arial"/>
              </a:rPr>
              <a:t>signals.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6219" y="817117"/>
            <a:ext cx="296799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3D69D8"/>
                </a:solidFill>
                <a:latin typeface="Courier New"/>
                <a:cs typeface="Courier New"/>
              </a:rPr>
              <a:t>OPERATIONS</a:t>
            </a:r>
            <a:r>
              <a:rPr dirty="0" sz="2050" spc="-5">
                <a:solidFill>
                  <a:srgbClr val="3D69D8"/>
                </a:solidFill>
                <a:latin typeface="Courier New"/>
                <a:cs typeface="Courier New"/>
              </a:rPr>
              <a:t> </a:t>
            </a:r>
            <a:r>
              <a:rPr dirty="0" sz="2050" spc="114">
                <a:solidFill>
                  <a:srgbClr val="446EE2"/>
                </a:solidFill>
                <a:latin typeface="Courier New"/>
                <a:cs typeface="Courier New"/>
              </a:rPr>
              <a:t>CONTROL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37211" y="1203885"/>
            <a:ext cx="7321550" cy="75184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65">
                <a:solidFill>
                  <a:srgbClr val="161616"/>
                </a:solidFill>
              </a:rPr>
              <a:t>Centralized</a:t>
            </a:r>
            <a:r>
              <a:rPr dirty="0" spc="-270">
                <a:solidFill>
                  <a:srgbClr val="161616"/>
                </a:solidFill>
              </a:rPr>
              <a:t> </a:t>
            </a:r>
            <a:r>
              <a:rPr dirty="0" spc="-40">
                <a:solidFill>
                  <a:srgbClr val="0F0F0F"/>
                </a:solidFill>
              </a:rPr>
              <a:t>Oversight</a:t>
            </a:r>
            <a:r>
              <a:rPr dirty="0" spc="-235">
                <a:solidFill>
                  <a:srgbClr val="0F0F0F"/>
                </a:solidFill>
              </a:rPr>
              <a:t> </a:t>
            </a:r>
            <a:r>
              <a:rPr dirty="0" spc="-150"/>
              <a:t>Room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5"/>
              </a:spcBef>
            </a:pPr>
            <a:r>
              <a:rPr dirty="0" spc="-30"/>
              <a:t>Real-</a:t>
            </a:r>
            <a:r>
              <a:rPr dirty="0"/>
              <a:t>Time</a:t>
            </a:r>
            <a:r>
              <a:rPr dirty="0" spc="65"/>
              <a:t> </a:t>
            </a:r>
            <a:r>
              <a:rPr dirty="0">
                <a:solidFill>
                  <a:srgbClr val="161616"/>
                </a:solidFill>
              </a:rPr>
              <a:t>Command</a:t>
            </a:r>
            <a:r>
              <a:rPr dirty="0" spc="-220">
                <a:solidFill>
                  <a:srgbClr val="161616"/>
                </a:solidFill>
              </a:rPr>
              <a:t> </a:t>
            </a:r>
            <a:r>
              <a:rPr dirty="0" spc="-10">
                <a:solidFill>
                  <a:srgbClr val="131313"/>
                </a:solidFill>
              </a:rPr>
              <a:t>Dashboard</a:t>
            </a:r>
          </a:p>
          <a:p>
            <a:pPr algn="just" marL="17780" marR="5080" indent="-3175">
              <a:lnSpc>
                <a:spcPct val="109100"/>
              </a:lnSpc>
              <a:spcBef>
                <a:spcPts val="2235"/>
              </a:spcBef>
            </a:pPr>
            <a:r>
              <a:rPr dirty="0" sz="2550" spc="-85">
                <a:solidFill>
                  <a:srgbClr val="494949"/>
                </a:solidFill>
              </a:rPr>
              <a:t>Monitor</a:t>
            </a:r>
            <a:r>
              <a:rPr dirty="0" sz="2550" spc="195">
                <a:solidFill>
                  <a:srgbClr val="494949"/>
                </a:solidFill>
              </a:rPr>
              <a:t> </a:t>
            </a:r>
            <a:r>
              <a:rPr dirty="0" sz="2550" spc="-100">
                <a:solidFill>
                  <a:srgbClr val="424242"/>
                </a:solidFill>
              </a:rPr>
              <a:t>community</a:t>
            </a:r>
            <a:r>
              <a:rPr dirty="0" sz="2550" spc="190">
                <a:solidFill>
                  <a:srgbClr val="424242"/>
                </a:solidFill>
              </a:rPr>
              <a:t> </a:t>
            </a:r>
            <a:r>
              <a:rPr dirty="0" sz="2550" spc="-85">
                <a:solidFill>
                  <a:srgbClr val="424242"/>
                </a:solidFill>
              </a:rPr>
              <a:t>perimeter</a:t>
            </a:r>
            <a:r>
              <a:rPr dirty="0" sz="2550" spc="315">
                <a:solidFill>
                  <a:srgbClr val="424242"/>
                </a:solidFill>
              </a:rPr>
              <a:t> </a:t>
            </a:r>
            <a:r>
              <a:rPr dirty="0" sz="2550" spc="-95">
                <a:solidFill>
                  <a:srgbClr val="414141"/>
                </a:solidFill>
              </a:rPr>
              <a:t>status,</a:t>
            </a:r>
            <a:r>
              <a:rPr dirty="0" sz="2550" spc="80">
                <a:solidFill>
                  <a:srgbClr val="414141"/>
                </a:solidFill>
              </a:rPr>
              <a:t> </a:t>
            </a:r>
            <a:r>
              <a:rPr dirty="0" sz="2550" spc="-90">
                <a:solidFill>
                  <a:srgbClr val="464646"/>
                </a:solidFill>
              </a:rPr>
              <a:t>track</a:t>
            </a:r>
            <a:r>
              <a:rPr dirty="0" sz="2550" spc="114">
                <a:solidFill>
                  <a:srgbClr val="464646"/>
                </a:solidFill>
              </a:rPr>
              <a:t> </a:t>
            </a:r>
            <a:r>
              <a:rPr dirty="0" sz="2550" spc="-110">
                <a:solidFill>
                  <a:srgbClr val="494949"/>
                </a:solidFill>
              </a:rPr>
              <a:t>guard</a:t>
            </a:r>
            <a:r>
              <a:rPr dirty="0" sz="2550" spc="85">
                <a:solidFill>
                  <a:srgbClr val="494949"/>
                </a:solidFill>
              </a:rPr>
              <a:t> </a:t>
            </a:r>
            <a:r>
              <a:rPr dirty="0" sz="2550" spc="-90">
                <a:solidFill>
                  <a:srgbClr val="424242"/>
                </a:solidFill>
              </a:rPr>
              <a:t>attendance,</a:t>
            </a:r>
            <a:r>
              <a:rPr dirty="0" sz="2550" spc="-55">
                <a:solidFill>
                  <a:srgbClr val="424242"/>
                </a:solidFill>
              </a:rPr>
              <a:t> </a:t>
            </a:r>
            <a:r>
              <a:rPr dirty="0" sz="2550" spc="-145">
                <a:solidFill>
                  <a:srgbClr val="4D4D4D"/>
                </a:solidFill>
              </a:rPr>
              <a:t>and</a:t>
            </a:r>
            <a:r>
              <a:rPr dirty="0" sz="2550" spc="25">
                <a:solidFill>
                  <a:srgbClr val="4D4D4D"/>
                </a:solidFill>
              </a:rPr>
              <a:t> </a:t>
            </a:r>
            <a:r>
              <a:rPr dirty="0" sz="2550" spc="-90">
                <a:solidFill>
                  <a:srgbClr val="4D4D4D"/>
                </a:solidFill>
              </a:rPr>
              <a:t>receive</a:t>
            </a:r>
            <a:r>
              <a:rPr dirty="0" sz="2550" spc="180">
                <a:solidFill>
                  <a:srgbClr val="4D4D4D"/>
                </a:solidFill>
              </a:rPr>
              <a:t> </a:t>
            </a:r>
            <a:r>
              <a:rPr dirty="0" sz="2550" spc="-80">
                <a:solidFill>
                  <a:srgbClr val="4B4B4B"/>
                </a:solidFill>
              </a:rPr>
              <a:t>instant</a:t>
            </a:r>
            <a:r>
              <a:rPr dirty="0" sz="2550" spc="125">
                <a:solidFill>
                  <a:srgbClr val="4B4B4B"/>
                </a:solidFill>
              </a:rPr>
              <a:t> </a:t>
            </a:r>
            <a:r>
              <a:rPr dirty="0" sz="2550" spc="-95">
                <a:solidFill>
                  <a:srgbClr val="464646"/>
                </a:solidFill>
              </a:rPr>
              <a:t>alerts</a:t>
            </a:r>
            <a:r>
              <a:rPr dirty="0" sz="2550" spc="260">
                <a:solidFill>
                  <a:srgbClr val="464646"/>
                </a:solidFill>
              </a:rPr>
              <a:t> </a:t>
            </a:r>
            <a:r>
              <a:rPr dirty="0" sz="2550" spc="-130">
                <a:solidFill>
                  <a:srgbClr val="494949"/>
                </a:solidFill>
              </a:rPr>
              <a:t>when</a:t>
            </a:r>
            <a:r>
              <a:rPr dirty="0" sz="2550" spc="155">
                <a:solidFill>
                  <a:srgbClr val="494949"/>
                </a:solidFill>
              </a:rPr>
              <a:t> </a:t>
            </a:r>
            <a:r>
              <a:rPr dirty="0" sz="2550" spc="-370">
                <a:solidFill>
                  <a:srgbClr val="7B8A97"/>
                </a:solidFill>
              </a:rPr>
              <a:t>a</a:t>
            </a:r>
            <a:r>
              <a:rPr dirty="0" sz="2550" spc="110">
                <a:solidFill>
                  <a:srgbClr val="7B8A97"/>
                </a:solidFill>
              </a:rPr>
              <a:t> </a:t>
            </a:r>
            <a:r>
              <a:rPr dirty="0" sz="2550" spc="-70">
                <a:solidFill>
                  <a:srgbClr val="3D3D3D"/>
                </a:solidFill>
              </a:rPr>
              <a:t>sector</a:t>
            </a:r>
            <a:r>
              <a:rPr dirty="0" sz="2550" spc="155">
                <a:solidFill>
                  <a:srgbClr val="3D3D3D"/>
                </a:solidFill>
              </a:rPr>
              <a:t> </a:t>
            </a:r>
            <a:r>
              <a:rPr dirty="0" sz="2550" spc="-110">
                <a:solidFill>
                  <a:srgbClr val="3D3D3D"/>
                </a:solidFill>
              </a:rPr>
              <a:t>misses</a:t>
            </a:r>
            <a:r>
              <a:rPr dirty="0" sz="2550" spc="155">
                <a:solidFill>
                  <a:srgbClr val="3D3D3D"/>
                </a:solidFill>
              </a:rPr>
              <a:t> </a:t>
            </a:r>
            <a:r>
              <a:rPr dirty="0" sz="2550" spc="-95">
                <a:solidFill>
                  <a:srgbClr val="3D3D3D"/>
                </a:solidFill>
              </a:rPr>
              <a:t>its</a:t>
            </a:r>
            <a:r>
              <a:rPr dirty="0" sz="2550" spc="120">
                <a:solidFill>
                  <a:srgbClr val="3D3D3D"/>
                </a:solidFill>
              </a:rPr>
              <a:t> </a:t>
            </a:r>
            <a:r>
              <a:rPr dirty="0" sz="2550" spc="-100">
                <a:solidFill>
                  <a:srgbClr val="494949"/>
                </a:solidFill>
              </a:rPr>
              <a:t>scheduled</a:t>
            </a:r>
            <a:r>
              <a:rPr dirty="0" sz="2550" spc="-55">
                <a:solidFill>
                  <a:srgbClr val="494949"/>
                </a:solidFill>
              </a:rPr>
              <a:t> </a:t>
            </a:r>
            <a:r>
              <a:rPr dirty="0" sz="2550" spc="-80">
                <a:solidFill>
                  <a:srgbClr val="4D4D4D"/>
                </a:solidFill>
              </a:rPr>
              <a:t>patrol</a:t>
            </a:r>
            <a:r>
              <a:rPr dirty="0" sz="2550" spc="-25">
                <a:solidFill>
                  <a:srgbClr val="4D4D4D"/>
                </a:solidFill>
              </a:rPr>
              <a:t> </a:t>
            </a:r>
            <a:r>
              <a:rPr dirty="0" sz="2550" spc="-75">
                <a:solidFill>
                  <a:srgbClr val="444444"/>
                </a:solidFill>
              </a:rPr>
              <a:t>interval.</a:t>
            </a:r>
            <a:endParaRPr sz="2550"/>
          </a:p>
          <a:p>
            <a:pPr marL="457200" marR="2947035" indent="6350">
              <a:lnSpc>
                <a:spcPct val="156800"/>
              </a:lnSpc>
              <a:spcBef>
                <a:spcPts val="2545"/>
              </a:spcBef>
            </a:pPr>
            <a:r>
              <a:rPr dirty="0" sz="2300">
                <a:solidFill>
                  <a:srgbClr val="1C1C1C"/>
                </a:solidFill>
              </a:rPr>
              <a:t>Automated</a:t>
            </a:r>
            <a:r>
              <a:rPr dirty="0" sz="2300" spc="220">
                <a:solidFill>
                  <a:srgbClr val="1C1C1C"/>
                </a:solidFill>
              </a:rPr>
              <a:t> </a:t>
            </a:r>
            <a:r>
              <a:rPr dirty="0" sz="2300" spc="65">
                <a:solidFill>
                  <a:srgbClr val="1C1C1C"/>
                </a:solidFill>
              </a:rPr>
              <a:t>route</a:t>
            </a:r>
            <a:r>
              <a:rPr dirty="0" sz="2300" spc="275">
                <a:solidFill>
                  <a:srgbClr val="1C1C1C"/>
                </a:solidFill>
              </a:rPr>
              <a:t> </a:t>
            </a:r>
            <a:r>
              <a:rPr dirty="0" sz="2300" spc="60">
                <a:solidFill>
                  <a:srgbClr val="1D1D1D"/>
                </a:solidFill>
              </a:rPr>
              <a:t>completion</a:t>
            </a:r>
            <a:r>
              <a:rPr dirty="0" sz="2300" spc="360">
                <a:solidFill>
                  <a:srgbClr val="1D1D1D"/>
                </a:solidFill>
              </a:rPr>
              <a:t> </a:t>
            </a:r>
            <a:r>
              <a:rPr dirty="0" sz="2300" spc="-10">
                <a:solidFill>
                  <a:srgbClr val="1C1C1C"/>
                </a:solidFill>
              </a:rPr>
              <a:t>checks </a:t>
            </a:r>
            <a:r>
              <a:rPr dirty="0" sz="2300">
                <a:solidFill>
                  <a:srgbClr val="212121"/>
                </a:solidFill>
              </a:rPr>
              <a:t>Shift</a:t>
            </a:r>
            <a:r>
              <a:rPr dirty="0" sz="2300" spc="85">
                <a:solidFill>
                  <a:srgbClr val="212121"/>
                </a:solidFill>
              </a:rPr>
              <a:t> </a:t>
            </a:r>
            <a:r>
              <a:rPr dirty="0" sz="2300" spc="55">
                <a:solidFill>
                  <a:srgbClr val="212121"/>
                </a:solidFill>
              </a:rPr>
              <a:t>handover</a:t>
            </a:r>
            <a:r>
              <a:rPr dirty="0" sz="2300" spc="350">
                <a:solidFill>
                  <a:srgbClr val="212121"/>
                </a:solidFill>
              </a:rPr>
              <a:t> </a:t>
            </a:r>
            <a:r>
              <a:rPr dirty="0" sz="2300" spc="85">
                <a:solidFill>
                  <a:srgbClr val="1D1D1D"/>
                </a:solidFill>
              </a:rPr>
              <a:t>verification</a:t>
            </a:r>
            <a:r>
              <a:rPr dirty="0" sz="2300" spc="175">
                <a:solidFill>
                  <a:srgbClr val="1D1D1D"/>
                </a:solidFill>
              </a:rPr>
              <a:t> </a:t>
            </a:r>
            <a:r>
              <a:rPr dirty="0" sz="2300" spc="50">
                <a:solidFill>
                  <a:srgbClr val="242424"/>
                </a:solidFill>
              </a:rPr>
              <a:t>logs </a:t>
            </a:r>
            <a:r>
              <a:rPr dirty="0" sz="2300" spc="65">
                <a:solidFill>
                  <a:srgbClr val="181818"/>
                </a:solidFill>
              </a:rPr>
              <a:t>Multi-</a:t>
            </a:r>
            <a:r>
              <a:rPr dirty="0" sz="2300" spc="85">
                <a:solidFill>
                  <a:srgbClr val="181818"/>
                </a:solidFill>
              </a:rPr>
              <a:t>gate</a:t>
            </a:r>
            <a:r>
              <a:rPr dirty="0" sz="2300" spc="285">
                <a:solidFill>
                  <a:srgbClr val="181818"/>
                </a:solidFill>
              </a:rPr>
              <a:t> </a:t>
            </a:r>
            <a:r>
              <a:rPr dirty="0" sz="2300" spc="70">
                <a:solidFill>
                  <a:srgbClr val="1A1A1A"/>
                </a:solidFill>
              </a:rPr>
              <a:t>synchronization</a:t>
            </a:r>
            <a:endParaRPr sz="23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9002" y="3141265"/>
            <a:ext cx="8418591" cy="6596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40577" y="833478"/>
            <a:ext cx="224155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70">
                <a:solidFill>
                  <a:srgbClr val="2F64DF"/>
                </a:solidFill>
                <a:latin typeface="Arial"/>
                <a:cs typeface="Arial"/>
              </a:rPr>
              <a:t>PR</a:t>
            </a:r>
            <a:r>
              <a:rPr dirty="0" sz="1900" spc="-200">
                <a:solidFill>
                  <a:srgbClr val="2F64D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3860D1"/>
                </a:solidFill>
                <a:latin typeface="Arial"/>
                <a:cs typeface="Arial"/>
              </a:rPr>
              <a:t>0</a:t>
            </a:r>
            <a:r>
              <a:rPr dirty="0" sz="1900" spc="-135">
                <a:solidFill>
                  <a:srgbClr val="3860D1"/>
                </a:solidFill>
                <a:latin typeface="Arial"/>
                <a:cs typeface="Arial"/>
              </a:rPr>
              <a:t> </a:t>
            </a:r>
            <a:r>
              <a:rPr dirty="0" sz="1900" spc="-135">
                <a:solidFill>
                  <a:srgbClr val="3B67CF"/>
                </a:solidFill>
                <a:latin typeface="Arial"/>
                <a:cs typeface="Arial"/>
              </a:rPr>
              <a:t>T</a:t>
            </a:r>
            <a:r>
              <a:rPr dirty="0" sz="1900" spc="-245">
                <a:solidFill>
                  <a:srgbClr val="3B67C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4264D8"/>
                </a:solidFill>
                <a:latin typeface="Arial"/>
                <a:cs typeface="Arial"/>
              </a:rPr>
              <a:t>0</a:t>
            </a:r>
            <a:r>
              <a:rPr dirty="0" sz="1900" spc="-50">
                <a:solidFill>
                  <a:srgbClr val="4264D8"/>
                </a:solidFill>
                <a:latin typeface="Arial"/>
                <a:cs typeface="Arial"/>
              </a:rPr>
              <a:t> </a:t>
            </a:r>
            <a:r>
              <a:rPr dirty="0" sz="1900" spc="-215">
                <a:solidFill>
                  <a:srgbClr val="365DD6"/>
                </a:solidFill>
                <a:latin typeface="Arial"/>
                <a:cs typeface="Arial"/>
              </a:rPr>
              <a:t>C</a:t>
            </a:r>
            <a:r>
              <a:rPr dirty="0" sz="1900" spc="-265">
                <a:solidFill>
                  <a:srgbClr val="365DD6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4264D8"/>
                </a:solidFill>
                <a:latin typeface="Arial"/>
                <a:cs typeface="Arial"/>
              </a:rPr>
              <a:t>0</a:t>
            </a:r>
            <a:r>
              <a:rPr dirty="0" sz="1900" spc="-25">
                <a:solidFill>
                  <a:srgbClr val="4264D8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1F6BD1"/>
                </a:solidFill>
                <a:latin typeface="Arial"/>
                <a:cs typeface="Arial"/>
              </a:rPr>
              <a:t>L</a:t>
            </a:r>
            <a:r>
              <a:rPr dirty="0" sz="1900" spc="215">
                <a:solidFill>
                  <a:srgbClr val="1F6BD1"/>
                </a:solidFill>
                <a:latin typeface="Arial"/>
                <a:cs typeface="Arial"/>
              </a:rPr>
              <a:t> </a:t>
            </a:r>
            <a:r>
              <a:rPr dirty="0" sz="1900" spc="-35">
                <a:solidFill>
                  <a:srgbClr val="3866D8"/>
                </a:solidFill>
                <a:latin typeface="Arial"/>
                <a:cs typeface="Arial"/>
              </a:rPr>
              <a:t>F</a:t>
            </a:r>
            <a:r>
              <a:rPr dirty="0" sz="1900" spc="-35">
                <a:solidFill>
                  <a:srgbClr val="2660D4"/>
                </a:solidFill>
                <a:latin typeface="Arial"/>
                <a:cs typeface="Arial"/>
              </a:rPr>
              <a:t>L</a:t>
            </a:r>
            <a:r>
              <a:rPr dirty="0" sz="1900" spc="-270">
                <a:solidFill>
                  <a:srgbClr val="2660D4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3B70DD"/>
                </a:solidFill>
                <a:latin typeface="Arial"/>
                <a:cs typeface="Arial"/>
              </a:rPr>
              <a:t>0</a:t>
            </a:r>
            <a:r>
              <a:rPr dirty="0" sz="1900" spc="-40">
                <a:solidFill>
                  <a:srgbClr val="3B70DD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3B60E2"/>
                </a:solidFill>
                <a:latin typeface="Arial"/>
                <a:cs typeface="Arial"/>
              </a:rPr>
              <a:t>W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14"/>
              </a:spcBef>
            </a:pPr>
            <a:r>
              <a:rPr dirty="0" spc="210">
                <a:solidFill>
                  <a:srgbClr val="151515"/>
                </a:solidFill>
                <a:latin typeface="Calibri"/>
                <a:cs typeface="Calibri"/>
              </a:rPr>
              <a:t>Rapid</a:t>
            </a:r>
            <a:r>
              <a:rPr dirty="0" spc="-3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pc="110">
                <a:solidFill>
                  <a:srgbClr val="131313"/>
                </a:solidFill>
                <a:latin typeface="Calibri"/>
                <a:cs typeface="Calibri"/>
              </a:rPr>
              <a:t>Incident</a:t>
            </a:r>
            <a:r>
              <a:rPr dirty="0" spc="-6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pc="240">
                <a:solidFill>
                  <a:srgbClr val="131313"/>
                </a:solidFill>
                <a:latin typeface="Calibri"/>
                <a:cs typeface="Calibri"/>
              </a:rPr>
              <a:t>Lifecycle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2045" y="5560040"/>
            <a:ext cx="596840" cy="5968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8349" y="5560040"/>
            <a:ext cx="596840" cy="5968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54652" y="5560040"/>
            <a:ext cx="596840" cy="596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30955" y="5560040"/>
            <a:ext cx="596840" cy="596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97766" y="6270885"/>
            <a:ext cx="2857500" cy="129159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2450" spc="-10">
                <a:solidFill>
                  <a:srgbClr val="0F0F0F"/>
                </a:solidFill>
                <a:latin typeface="Arial"/>
                <a:cs typeface="Arial"/>
              </a:rPr>
              <a:t>Trigger</a:t>
            </a:r>
            <a:endParaRPr sz="2450">
              <a:latin typeface="Arial"/>
              <a:cs typeface="Arial"/>
            </a:endParaRPr>
          </a:p>
          <a:p>
            <a:pPr marL="20320">
              <a:lnSpc>
                <a:spcPts val="2555"/>
              </a:lnSpc>
              <a:spcBef>
                <a:spcPts val="795"/>
              </a:spcBef>
            </a:pPr>
            <a:r>
              <a:rPr dirty="0" sz="2300">
                <a:solidFill>
                  <a:srgbClr val="707070"/>
                </a:solidFill>
                <a:latin typeface="Arial"/>
                <a:cs typeface="Arial"/>
              </a:rPr>
              <a:t>Resident</a:t>
            </a:r>
            <a:r>
              <a:rPr dirty="0" sz="2300" spc="165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B6B6B"/>
                </a:solidFill>
                <a:latin typeface="Arial"/>
                <a:cs typeface="Arial"/>
              </a:rPr>
              <a:t>taps</a:t>
            </a:r>
            <a:r>
              <a:rPr dirty="0" sz="2300" spc="14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6D7789"/>
                </a:solidFill>
                <a:latin typeface="Arial"/>
                <a:cs typeface="Arial"/>
              </a:rPr>
              <a:t>SOS</a:t>
            </a:r>
            <a:r>
              <a:rPr dirty="0" sz="2300" spc="95">
                <a:solidFill>
                  <a:srgbClr val="6D7789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72809C"/>
                </a:solidFill>
                <a:latin typeface="Arial"/>
                <a:cs typeface="Arial"/>
              </a:rPr>
              <a:t>in</a:t>
            </a:r>
            <a:endParaRPr sz="2300">
              <a:latin typeface="Arial"/>
              <a:cs typeface="Arial"/>
            </a:endParaRPr>
          </a:p>
          <a:p>
            <a:pPr marL="23495">
              <a:lnSpc>
                <a:spcPts val="2855"/>
              </a:lnSpc>
            </a:pPr>
            <a:r>
              <a:rPr dirty="0" sz="2550" spc="-20">
                <a:solidFill>
                  <a:srgbClr val="7E899A"/>
                </a:solidFill>
                <a:latin typeface="Arial"/>
                <a:cs typeface="Arial"/>
              </a:rPr>
              <a:t>app.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0930" y="6270885"/>
            <a:ext cx="3186430" cy="128524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2450" spc="80">
                <a:solidFill>
                  <a:srgbClr val="131313"/>
                </a:solidFill>
                <a:latin typeface="Arial"/>
                <a:cs typeface="Arial"/>
              </a:rPr>
              <a:t>Dispatch</a:t>
            </a:r>
            <a:endParaRPr sz="2450">
              <a:latin typeface="Arial"/>
              <a:cs typeface="Arial"/>
            </a:endParaRPr>
          </a:p>
          <a:p>
            <a:pPr marL="20955" marR="5080" indent="-6985">
              <a:lnSpc>
                <a:spcPts val="2600"/>
              </a:lnSpc>
              <a:spcBef>
                <a:spcPts val="1015"/>
              </a:spcBef>
            </a:pPr>
            <a:r>
              <a:rPr dirty="0" sz="2300">
                <a:solidFill>
                  <a:srgbClr val="66779C"/>
                </a:solidFill>
                <a:latin typeface="Arial"/>
                <a:cs typeface="Arial"/>
              </a:rPr>
              <a:t>Nearest</a:t>
            </a:r>
            <a:r>
              <a:rPr dirty="0" sz="2300" spc="395">
                <a:solidFill>
                  <a:srgbClr val="66779C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B7C8C"/>
                </a:solidFill>
                <a:latin typeface="Arial"/>
                <a:cs typeface="Arial"/>
              </a:rPr>
              <a:t>guard</a:t>
            </a:r>
            <a:r>
              <a:rPr dirty="0" sz="2300" spc="350">
                <a:solidFill>
                  <a:srgbClr val="6B7C8C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74809A"/>
                </a:solidFill>
                <a:latin typeface="Arial"/>
                <a:cs typeface="Arial"/>
              </a:rPr>
              <a:t>receives </a:t>
            </a:r>
            <a:r>
              <a:rPr dirty="0" sz="2300" spc="-114">
                <a:solidFill>
                  <a:srgbClr val="707982"/>
                </a:solidFill>
                <a:latin typeface="Arial"/>
                <a:cs typeface="Arial"/>
              </a:rPr>
              <a:t>GPS</a:t>
            </a:r>
            <a:r>
              <a:rPr dirty="0" sz="2300" spc="-30">
                <a:solidFill>
                  <a:srgbClr val="707982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727272"/>
                </a:solidFill>
                <a:latin typeface="Arial"/>
                <a:cs typeface="Arial"/>
              </a:rPr>
              <a:t>route.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5543" y="6270885"/>
            <a:ext cx="3275329" cy="128524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2450" spc="-10">
                <a:solidFill>
                  <a:srgbClr val="0F0F0F"/>
                </a:solidFill>
                <a:latin typeface="Arial"/>
                <a:cs typeface="Arial"/>
              </a:rPr>
              <a:t>Arrival</a:t>
            </a:r>
            <a:endParaRPr sz="2450">
              <a:latin typeface="Arial"/>
              <a:cs typeface="Arial"/>
            </a:endParaRPr>
          </a:p>
          <a:p>
            <a:pPr marL="19050" marR="5080" indent="-6985">
              <a:lnSpc>
                <a:spcPts val="2600"/>
              </a:lnSpc>
              <a:spcBef>
                <a:spcPts val="1015"/>
              </a:spcBef>
            </a:pPr>
            <a:r>
              <a:rPr dirty="0" sz="2300">
                <a:solidFill>
                  <a:srgbClr val="697587"/>
                </a:solidFill>
                <a:latin typeface="Arial"/>
                <a:cs typeface="Arial"/>
              </a:rPr>
              <a:t>Guard</a:t>
            </a:r>
            <a:r>
              <a:rPr dirty="0" sz="2300" spc="240">
                <a:solidFill>
                  <a:srgbClr val="697587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6758E"/>
                </a:solidFill>
                <a:latin typeface="Arial"/>
                <a:cs typeface="Arial"/>
              </a:rPr>
              <a:t>verifies</a:t>
            </a:r>
            <a:r>
              <a:rPr dirty="0" sz="2300" spc="335">
                <a:solidFill>
                  <a:srgbClr val="66758E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5D7072"/>
                </a:solidFill>
                <a:latin typeface="Arial"/>
                <a:cs typeface="Arial"/>
              </a:rPr>
              <a:t>on</a:t>
            </a:r>
            <a:r>
              <a:rPr dirty="0" sz="2300" spc="-370">
                <a:solidFill>
                  <a:srgbClr val="5D707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777777"/>
                </a:solidFill>
                <a:latin typeface="Arial"/>
                <a:cs typeface="Arial"/>
              </a:rPr>
              <a:t>-</a:t>
            </a:r>
            <a:r>
              <a:rPr dirty="0" sz="2300" spc="45">
                <a:solidFill>
                  <a:srgbClr val="777777"/>
                </a:solidFill>
                <a:latin typeface="Arial"/>
                <a:cs typeface="Arial"/>
              </a:rPr>
              <a:t>scene </a:t>
            </a:r>
            <a:r>
              <a:rPr dirty="0" sz="2300" spc="-10">
                <a:solidFill>
                  <a:srgbClr val="666666"/>
                </a:solidFill>
                <a:latin typeface="Arial"/>
                <a:cs typeface="Arial"/>
              </a:rPr>
              <a:t>safety.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033082" y="6292736"/>
            <a:ext cx="3397885" cy="12668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450" spc="-10">
                <a:solidFill>
                  <a:srgbClr val="181818"/>
                </a:solidFill>
                <a:latin typeface="Arial"/>
                <a:cs typeface="Arial"/>
              </a:rPr>
              <a:t>Resolution</a:t>
            </a:r>
            <a:endParaRPr sz="2450">
              <a:latin typeface="Arial"/>
              <a:cs typeface="Arial"/>
            </a:endParaRPr>
          </a:p>
          <a:p>
            <a:pPr marL="27305" marR="5080" indent="-12065">
              <a:lnSpc>
                <a:spcPts val="2600"/>
              </a:lnSpc>
              <a:spcBef>
                <a:spcPts val="1015"/>
              </a:spcBef>
            </a:pPr>
            <a:r>
              <a:rPr dirty="0" sz="2450" spc="-20">
                <a:solidFill>
                  <a:srgbClr val="707070"/>
                </a:solidFill>
                <a:latin typeface="Arial"/>
                <a:cs typeface="Arial"/>
              </a:rPr>
              <a:t>Incident</a:t>
            </a:r>
            <a:r>
              <a:rPr dirty="0" sz="2450" spc="-7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58099"/>
                </a:solidFill>
                <a:latin typeface="Arial"/>
                <a:cs typeface="Arial"/>
              </a:rPr>
              <a:t>logged</a:t>
            </a:r>
            <a:r>
              <a:rPr dirty="0" sz="2450" spc="-55">
                <a:solidFill>
                  <a:srgbClr val="758099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707070"/>
                </a:solidFill>
                <a:latin typeface="Arial"/>
                <a:cs typeface="Arial"/>
              </a:rPr>
              <a:t>with</a:t>
            </a:r>
            <a:r>
              <a:rPr dirty="0" sz="2450" spc="-114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2450" spc="-20">
                <a:solidFill>
                  <a:srgbClr val="5D5D5D"/>
                </a:solidFill>
                <a:latin typeface="Arial"/>
                <a:cs typeface="Arial"/>
              </a:rPr>
              <a:t>time </a:t>
            </a:r>
            <a:r>
              <a:rPr dirty="0" sz="2450" spc="-10">
                <a:solidFill>
                  <a:srgbClr val="707070"/>
                </a:solidFill>
                <a:latin typeface="Arial"/>
                <a:cs typeface="Arial"/>
              </a:rPr>
              <a:t>stamp.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2512" y="849839"/>
            <a:ext cx="29470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0">
                <a:solidFill>
                  <a:srgbClr val="2D62E2"/>
                </a:solidFill>
                <a:latin typeface="Arial"/>
                <a:cs typeface="Arial"/>
              </a:rPr>
              <a:t>M</a:t>
            </a:r>
            <a:r>
              <a:rPr dirty="0" sz="1800" spc="-340">
                <a:solidFill>
                  <a:srgbClr val="2D62E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662E4"/>
                </a:solidFill>
                <a:latin typeface="Arial"/>
                <a:cs typeface="Arial"/>
              </a:rPr>
              <a:t>EAS</a:t>
            </a:r>
            <a:r>
              <a:rPr dirty="0" sz="1800" spc="-315">
                <a:solidFill>
                  <a:srgbClr val="2662E4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345ECD"/>
                </a:solidFill>
                <a:latin typeface="Arial"/>
                <a:cs typeface="Arial"/>
              </a:rPr>
              <a:t>U</a:t>
            </a:r>
            <a:r>
              <a:rPr dirty="0" sz="1800" spc="-45">
                <a:solidFill>
                  <a:srgbClr val="335DD1"/>
                </a:solidFill>
                <a:latin typeface="Arial"/>
                <a:cs typeface="Arial"/>
              </a:rPr>
              <a:t>RE</a:t>
            </a:r>
            <a:r>
              <a:rPr dirty="0" sz="1800" spc="-300">
                <a:solidFill>
                  <a:srgbClr val="335DD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57ED"/>
                </a:solidFill>
                <a:latin typeface="Arial"/>
                <a:cs typeface="Arial"/>
              </a:rPr>
              <a:t>D</a:t>
            </a:r>
            <a:r>
              <a:rPr dirty="0" sz="1800" spc="434">
                <a:solidFill>
                  <a:srgbClr val="3357ED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848D6"/>
                </a:solidFill>
                <a:latin typeface="Arial"/>
                <a:cs typeface="Arial"/>
              </a:rPr>
              <a:t>0</a:t>
            </a:r>
            <a:r>
              <a:rPr dirty="0" sz="1800" spc="25">
                <a:solidFill>
                  <a:srgbClr val="2848D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D66D4"/>
                </a:solidFill>
                <a:latin typeface="Arial"/>
                <a:cs typeface="Arial"/>
              </a:rPr>
              <a:t>UT</a:t>
            </a:r>
            <a:r>
              <a:rPr dirty="0" sz="1800" spc="-225">
                <a:solidFill>
                  <a:srgbClr val="3D66D4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3D62E6"/>
                </a:solidFill>
                <a:latin typeface="Arial"/>
                <a:cs typeface="Arial"/>
              </a:rPr>
              <a:t>C</a:t>
            </a:r>
            <a:r>
              <a:rPr dirty="0" sz="1800" spc="-235">
                <a:solidFill>
                  <a:srgbClr val="3D62E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F5BE2"/>
                </a:solidFill>
                <a:latin typeface="Arial"/>
                <a:cs typeface="Arial"/>
              </a:rPr>
              <a:t>0</a:t>
            </a:r>
            <a:r>
              <a:rPr dirty="0" sz="1800" spc="90">
                <a:solidFill>
                  <a:srgbClr val="2F5BE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67DD"/>
                </a:solidFill>
                <a:latin typeface="Arial"/>
                <a:cs typeface="Arial"/>
              </a:rPr>
              <a:t>M</a:t>
            </a:r>
            <a:r>
              <a:rPr dirty="0" sz="1800">
                <a:solidFill>
                  <a:srgbClr val="364FC8"/>
                </a:solidFill>
                <a:latin typeface="Arial"/>
                <a:cs typeface="Arial"/>
              </a:rPr>
              <a:t>E</a:t>
            </a:r>
            <a:r>
              <a:rPr dirty="0" sz="1800" spc="-229">
                <a:solidFill>
                  <a:srgbClr val="364FC8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3D5BDB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9471" y="1220246"/>
            <a:ext cx="8197850" cy="732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00" spc="160">
                <a:solidFill>
                  <a:srgbClr val="111111"/>
                </a:solidFill>
                <a:latin typeface="Calibri"/>
                <a:cs typeface="Calibri"/>
              </a:rPr>
              <a:t>Community</a:t>
            </a:r>
            <a:r>
              <a:rPr dirty="0" sz="4600" spc="2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4600" spc="285">
                <a:solidFill>
                  <a:srgbClr val="161616"/>
                </a:solidFill>
                <a:latin typeface="Calibri"/>
                <a:cs typeface="Calibri"/>
              </a:rPr>
              <a:t>Safety</a:t>
            </a:r>
            <a:r>
              <a:rPr dirty="0" sz="4600" spc="-1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600" spc="210">
                <a:solidFill>
                  <a:srgbClr val="0F0F0F"/>
                </a:solidFill>
                <a:latin typeface="Calibri"/>
                <a:cs typeface="Calibri"/>
              </a:rPr>
              <a:t>Benchmarks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3219" y="4871968"/>
            <a:ext cx="4326255" cy="2809875"/>
          </a:xfrm>
          <a:prstGeom prst="rect">
            <a:avLst/>
          </a:prstGeom>
        </p:spPr>
        <p:txBody>
          <a:bodyPr wrap="square" lIns="0" tIns="330200" rIns="0" bIns="0" rtlCol="0" vert="horz">
            <a:spAutoFit/>
          </a:bodyPr>
          <a:lstStyle/>
          <a:p>
            <a:pPr algn="ctr" marR="303530">
              <a:lnSpc>
                <a:spcPct val="100000"/>
              </a:lnSpc>
              <a:spcBef>
                <a:spcPts val="2600"/>
              </a:spcBef>
            </a:pPr>
            <a:r>
              <a:rPr dirty="0" sz="7700" spc="-10">
                <a:solidFill>
                  <a:srgbClr val="2164ED"/>
                </a:solidFill>
                <a:latin typeface="Arial"/>
                <a:cs typeface="Arial"/>
              </a:rPr>
              <a:t>1öö</a:t>
            </a:r>
            <a:r>
              <a:rPr dirty="0" baseline="44733" sz="5775" spc="-15">
                <a:solidFill>
                  <a:srgbClr val="2164ED"/>
                </a:solidFill>
                <a:latin typeface="Arial"/>
                <a:cs typeface="Arial"/>
              </a:rPr>
              <a:t>O</a:t>
            </a:r>
            <a:r>
              <a:rPr dirty="0" sz="7700" spc="-10">
                <a:solidFill>
                  <a:srgbClr val="2164ED"/>
                </a:solidFill>
                <a:latin typeface="Arial"/>
                <a:cs typeface="Arial"/>
              </a:rPr>
              <a:t>é</a:t>
            </a:r>
            <a:endParaRPr sz="7700">
              <a:latin typeface="Arial"/>
              <a:cs typeface="Arial"/>
            </a:endParaRPr>
          </a:p>
          <a:p>
            <a:pPr algn="ctr" marR="13970">
              <a:lnSpc>
                <a:spcPct val="100000"/>
              </a:lnSpc>
              <a:spcBef>
                <a:spcPts val="860"/>
              </a:spcBef>
            </a:pPr>
            <a:r>
              <a:rPr dirty="0" sz="2550">
                <a:solidFill>
                  <a:srgbClr val="181818"/>
                </a:solidFill>
                <a:latin typeface="Arial"/>
                <a:cs typeface="Arial"/>
              </a:rPr>
              <a:t>Patrol</a:t>
            </a:r>
            <a:r>
              <a:rPr dirty="0" sz="2550" spc="14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11111"/>
                </a:solidFill>
                <a:latin typeface="Arial"/>
                <a:cs typeface="Arial"/>
              </a:rPr>
              <a:t>Compliance</a:t>
            </a:r>
            <a:endParaRPr sz="2550">
              <a:latin typeface="Arial"/>
              <a:cs typeface="Arial"/>
            </a:endParaRPr>
          </a:p>
          <a:p>
            <a:pPr algn="ctr" marL="37465" marR="30480">
              <a:lnSpc>
                <a:spcPts val="2600"/>
              </a:lnSpc>
              <a:spcBef>
                <a:spcPts val="1120"/>
              </a:spcBef>
            </a:pPr>
            <a:r>
              <a:rPr dirty="0" sz="2300">
                <a:solidFill>
                  <a:srgbClr val="577489"/>
                </a:solidFill>
                <a:latin typeface="Arial"/>
                <a:cs typeface="Arial"/>
              </a:rPr>
              <a:t>Verified</a:t>
            </a:r>
            <a:r>
              <a:rPr dirty="0" sz="2300" spc="285">
                <a:solidFill>
                  <a:srgbClr val="577489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77991"/>
                </a:solidFill>
                <a:latin typeface="Arial"/>
                <a:cs typeface="Arial"/>
              </a:rPr>
              <a:t>check-ins</a:t>
            </a:r>
            <a:r>
              <a:rPr dirty="0" sz="2300" spc="385">
                <a:solidFill>
                  <a:srgbClr val="677991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4758E"/>
                </a:solidFill>
                <a:latin typeface="Arial"/>
                <a:cs typeface="Arial"/>
              </a:rPr>
              <a:t>at</a:t>
            </a:r>
            <a:r>
              <a:rPr dirty="0" sz="2300" spc="180">
                <a:solidFill>
                  <a:srgbClr val="64758E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798595"/>
                </a:solidFill>
                <a:latin typeface="Arial"/>
                <a:cs typeface="Arial"/>
              </a:rPr>
              <a:t>every</a:t>
            </a:r>
            <a:r>
              <a:rPr dirty="0" sz="2300" spc="360">
                <a:solidFill>
                  <a:srgbClr val="798595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707C8C"/>
                </a:solidFill>
                <a:latin typeface="Arial"/>
                <a:cs typeface="Arial"/>
              </a:rPr>
              <a:t>gate </a:t>
            </a:r>
            <a:r>
              <a:rPr dirty="0" sz="2300">
                <a:solidFill>
                  <a:srgbClr val="696969"/>
                </a:solidFill>
                <a:latin typeface="Arial"/>
                <a:cs typeface="Arial"/>
              </a:rPr>
              <a:t>and</a:t>
            </a:r>
            <a:r>
              <a:rPr dirty="0" sz="2300" spc="9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696969"/>
                </a:solidFill>
                <a:latin typeface="Arial"/>
                <a:cs typeface="Arial"/>
              </a:rPr>
              <a:t>corner.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47315" y="4871968"/>
            <a:ext cx="3788410" cy="2813050"/>
          </a:xfrm>
          <a:prstGeom prst="rect">
            <a:avLst/>
          </a:prstGeom>
        </p:spPr>
        <p:txBody>
          <a:bodyPr wrap="square" lIns="0" tIns="330200" rIns="0" bIns="0" rtlCol="0" vert="horz">
            <a:spAutoFit/>
          </a:bodyPr>
          <a:lstStyle/>
          <a:p>
            <a:pPr marL="577215">
              <a:lnSpc>
                <a:spcPct val="100000"/>
              </a:lnSpc>
              <a:spcBef>
                <a:spcPts val="2600"/>
              </a:spcBef>
            </a:pPr>
            <a:r>
              <a:rPr dirty="0" sz="7700" spc="70">
                <a:solidFill>
                  <a:srgbClr val="0A8EBC"/>
                </a:solidFill>
                <a:latin typeface="Arial"/>
                <a:cs typeface="Arial"/>
              </a:rPr>
              <a:t>-</a:t>
            </a:r>
            <a:r>
              <a:rPr dirty="0" sz="7700" spc="125">
                <a:solidFill>
                  <a:srgbClr val="0A8EBC"/>
                </a:solidFill>
                <a:latin typeface="Arial"/>
                <a:cs typeface="Arial"/>
              </a:rPr>
              <a:t>65</a:t>
            </a:r>
            <a:r>
              <a:rPr dirty="0" baseline="44733" sz="5775" spc="187">
                <a:solidFill>
                  <a:srgbClr val="0A8EBC"/>
                </a:solidFill>
                <a:latin typeface="Arial"/>
                <a:cs typeface="Arial"/>
              </a:rPr>
              <a:t>O</a:t>
            </a:r>
            <a:r>
              <a:rPr dirty="0" sz="7700" spc="125">
                <a:solidFill>
                  <a:srgbClr val="0A8EBC"/>
                </a:solidFill>
                <a:latin typeface="Arial"/>
                <a:cs typeface="Arial"/>
              </a:rPr>
              <a:t>é</a:t>
            </a:r>
            <a:endParaRPr sz="7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dirty="0" sz="2550">
                <a:solidFill>
                  <a:srgbClr val="181818"/>
                </a:solidFill>
                <a:latin typeface="Arial"/>
                <a:cs typeface="Arial"/>
              </a:rPr>
              <a:t>Gate</a:t>
            </a:r>
            <a:r>
              <a:rPr dirty="0" sz="2550" spc="-5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161616"/>
                </a:solidFill>
                <a:latin typeface="Arial"/>
                <a:cs typeface="Arial"/>
              </a:rPr>
              <a:t>Wait</a:t>
            </a:r>
            <a:r>
              <a:rPr dirty="0" sz="2550" spc="4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151515"/>
                </a:solidFill>
                <a:latin typeface="Arial"/>
                <a:cs typeface="Arial"/>
              </a:rPr>
              <a:t>Times</a:t>
            </a:r>
            <a:endParaRPr sz="2550">
              <a:latin typeface="Arial"/>
              <a:cs typeface="Arial"/>
            </a:endParaRPr>
          </a:p>
          <a:p>
            <a:pPr algn="ctr" marL="38100" marR="30480">
              <a:lnSpc>
                <a:spcPts val="2600"/>
              </a:lnSpc>
              <a:spcBef>
                <a:spcPts val="1120"/>
              </a:spcBef>
            </a:pPr>
            <a:r>
              <a:rPr dirty="0" sz="2450" spc="-10">
                <a:solidFill>
                  <a:srgbClr val="5D7795"/>
                </a:solidFill>
                <a:latin typeface="Arial"/>
                <a:cs typeface="Arial"/>
              </a:rPr>
              <a:t>Instant</a:t>
            </a:r>
            <a:r>
              <a:rPr dirty="0" sz="2450" spc="-100">
                <a:solidFill>
                  <a:srgbClr val="5D7795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727C85"/>
                </a:solidFill>
                <a:latin typeface="Arial"/>
                <a:cs typeface="Arial"/>
              </a:rPr>
              <a:t>guest</a:t>
            </a:r>
            <a:r>
              <a:rPr dirty="0" sz="2450" spc="-35">
                <a:solidFill>
                  <a:srgbClr val="727C85"/>
                </a:solidFill>
                <a:latin typeface="Arial"/>
                <a:cs typeface="Arial"/>
              </a:rPr>
              <a:t> </a:t>
            </a:r>
            <a:r>
              <a:rPr dirty="0" sz="2450" spc="-370">
                <a:solidFill>
                  <a:srgbClr val="797C89"/>
                </a:solidFill>
                <a:latin typeface="Arial"/>
                <a:cs typeface="Arial"/>
              </a:rPr>
              <a:t>OR</a:t>
            </a:r>
            <a:r>
              <a:rPr dirty="0" sz="2450" spc="140">
                <a:solidFill>
                  <a:srgbClr val="797C89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B6B6B"/>
                </a:solidFill>
                <a:latin typeface="Arial"/>
                <a:cs typeface="Arial"/>
              </a:rPr>
              <a:t>code</a:t>
            </a:r>
            <a:r>
              <a:rPr dirty="0" sz="2450" spc="-1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2450" spc="-55">
                <a:solidFill>
                  <a:srgbClr val="6E7987"/>
                </a:solidFill>
                <a:latin typeface="Arial"/>
                <a:cs typeface="Arial"/>
              </a:rPr>
              <a:t>pass </a:t>
            </a:r>
            <a:r>
              <a:rPr dirty="0" sz="2450" spc="-10">
                <a:solidFill>
                  <a:srgbClr val="666666"/>
                </a:solidFill>
                <a:latin typeface="Arial"/>
                <a:cs typeface="Arial"/>
              </a:rPr>
              <a:t>verification.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71384" y="4989765"/>
            <a:ext cx="1183005" cy="1439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250" spc="-370">
                <a:solidFill>
                  <a:srgbClr val="16A349"/>
                </a:solidFill>
                <a:latin typeface="Arial"/>
                <a:cs typeface="Arial"/>
              </a:rPr>
              <a:t>3x</a:t>
            </a:r>
            <a:endParaRPr sz="9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60625" y="6386974"/>
            <a:ext cx="4034154" cy="129794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869"/>
              </a:spcBef>
            </a:pPr>
            <a:r>
              <a:rPr dirty="0" sz="2450">
                <a:solidFill>
                  <a:srgbClr val="111111"/>
                </a:solidFill>
                <a:latin typeface="Arial"/>
                <a:cs typeface="Arial"/>
              </a:rPr>
              <a:t>Resident</a:t>
            </a:r>
            <a:r>
              <a:rPr dirty="0" sz="2450" spc="54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450" spc="65">
                <a:solidFill>
                  <a:srgbClr val="0F0F0F"/>
                </a:solidFill>
                <a:latin typeface="Arial"/>
                <a:cs typeface="Arial"/>
              </a:rPr>
              <a:t>Engagement</a:t>
            </a:r>
            <a:endParaRPr sz="2450">
              <a:latin typeface="Arial"/>
              <a:cs typeface="Arial"/>
            </a:endParaRPr>
          </a:p>
          <a:p>
            <a:pPr algn="ctr" marL="12700" marR="5080">
              <a:lnSpc>
                <a:spcPts val="2600"/>
              </a:lnSpc>
              <a:spcBef>
                <a:spcPts val="1140"/>
              </a:spcBef>
            </a:pPr>
            <a:r>
              <a:rPr dirty="0" sz="2450" spc="-45">
                <a:solidFill>
                  <a:srgbClr val="747474"/>
                </a:solidFill>
                <a:latin typeface="Arial"/>
                <a:cs typeface="Arial"/>
              </a:rPr>
              <a:t>Active</a:t>
            </a:r>
            <a:r>
              <a:rPr dirty="0" sz="2450" spc="-15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D798C"/>
                </a:solidFill>
                <a:latin typeface="Arial"/>
                <a:cs typeface="Arial"/>
              </a:rPr>
              <a:t>safety</a:t>
            </a:r>
            <a:r>
              <a:rPr dirty="0" sz="2450" spc="-110">
                <a:solidFill>
                  <a:srgbClr val="6D798C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6B859A"/>
                </a:solidFill>
                <a:latin typeface="Arial"/>
                <a:cs typeface="Arial"/>
              </a:rPr>
              <a:t>reporting</a:t>
            </a:r>
            <a:r>
              <a:rPr dirty="0" sz="2450" spc="-95">
                <a:solidFill>
                  <a:srgbClr val="6B859A"/>
                </a:solidFill>
                <a:latin typeface="Arial"/>
                <a:cs typeface="Arial"/>
              </a:rPr>
              <a:t> </a:t>
            </a:r>
            <a:r>
              <a:rPr dirty="0" sz="2450" spc="-20">
                <a:solidFill>
                  <a:srgbClr val="677EA8"/>
                </a:solidFill>
                <a:latin typeface="Arial"/>
                <a:cs typeface="Arial"/>
              </a:rPr>
              <a:t>across </a:t>
            </a:r>
            <a:r>
              <a:rPr dirty="0" sz="2450">
                <a:solidFill>
                  <a:srgbClr val="6B7787"/>
                </a:solidFill>
                <a:latin typeface="Arial"/>
                <a:cs typeface="Arial"/>
              </a:rPr>
              <a:t>the</a:t>
            </a:r>
            <a:r>
              <a:rPr dirty="0" sz="2450" spc="-5">
                <a:solidFill>
                  <a:srgbClr val="6B7787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57575"/>
                </a:solidFill>
                <a:latin typeface="Arial"/>
                <a:cs typeface="Arial"/>
              </a:rPr>
              <a:t>estate.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8102" y="849839"/>
            <a:ext cx="25876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85DCF"/>
                </a:solidFill>
                <a:latin typeface="Arial"/>
                <a:cs typeface="Arial"/>
              </a:rPr>
              <a:t>CA</a:t>
            </a:r>
            <a:r>
              <a:rPr dirty="0" sz="1800" spc="-200">
                <a:solidFill>
                  <a:srgbClr val="385DC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2172D1"/>
                </a:solidFill>
                <a:latin typeface="Arial"/>
                <a:cs typeface="Arial"/>
              </a:rPr>
              <a:t>PA</a:t>
            </a:r>
            <a:r>
              <a:rPr dirty="0" sz="1800" spc="-195">
                <a:solidFill>
                  <a:srgbClr val="2172D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67D3"/>
                </a:solidFill>
                <a:latin typeface="Arial"/>
                <a:cs typeface="Arial"/>
              </a:rPr>
              <a:t>B</a:t>
            </a:r>
            <a:r>
              <a:rPr dirty="0" sz="1800">
                <a:solidFill>
                  <a:srgbClr val="2F60E8"/>
                </a:solidFill>
                <a:latin typeface="Arial"/>
                <a:cs typeface="Arial"/>
              </a:rPr>
              <a:t>I</a:t>
            </a:r>
            <a:r>
              <a:rPr dirty="0" sz="1800" spc="-240">
                <a:solidFill>
                  <a:srgbClr val="2F60E8"/>
                </a:solidFill>
                <a:latin typeface="Arial"/>
                <a:cs typeface="Arial"/>
              </a:rPr>
              <a:t> </a:t>
            </a:r>
            <a:r>
              <a:rPr dirty="0" sz="1800" spc="114">
                <a:solidFill>
                  <a:srgbClr val="1F62E4"/>
                </a:solidFill>
                <a:latin typeface="Arial"/>
                <a:cs typeface="Arial"/>
              </a:rPr>
              <a:t>LITY</a:t>
            </a:r>
            <a:r>
              <a:rPr dirty="0" sz="1800" spc="495">
                <a:solidFill>
                  <a:srgbClr val="1F62E4"/>
                </a:solidFill>
                <a:latin typeface="Arial"/>
                <a:cs typeface="Arial"/>
              </a:rPr>
              <a:t> </a:t>
            </a:r>
            <a:r>
              <a:rPr dirty="0" sz="1800" spc="120">
                <a:solidFill>
                  <a:srgbClr val="1D59F7"/>
                </a:solidFill>
                <a:latin typeface="Arial"/>
                <a:cs typeface="Arial"/>
              </a:rPr>
              <a:t>M</a:t>
            </a:r>
            <a:r>
              <a:rPr dirty="0" sz="1800" spc="-245">
                <a:solidFill>
                  <a:srgbClr val="1D59F7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F62C3"/>
                </a:solidFill>
                <a:latin typeface="Arial"/>
                <a:cs typeface="Arial"/>
              </a:rPr>
              <a:t>AT</a:t>
            </a:r>
            <a:r>
              <a:rPr dirty="0" sz="1800" spc="-265">
                <a:solidFill>
                  <a:srgbClr val="1F62C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45BE6"/>
                </a:solidFill>
                <a:latin typeface="Arial"/>
                <a:cs typeface="Arial"/>
              </a:rPr>
              <a:t>RI</a:t>
            </a:r>
            <a:r>
              <a:rPr dirty="0" sz="1800" spc="-260">
                <a:solidFill>
                  <a:srgbClr val="345BE6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166BDB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14"/>
              </a:spcBef>
            </a:pPr>
            <a:r>
              <a:rPr dirty="0">
                <a:solidFill>
                  <a:srgbClr val="131313"/>
                </a:solidFill>
                <a:latin typeface="Calibri"/>
                <a:cs typeface="Calibri"/>
              </a:rPr>
              <a:t>Traditional</a:t>
            </a:r>
            <a:r>
              <a:rPr dirty="0" spc="6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pc="170">
                <a:solidFill>
                  <a:srgbClr val="151515"/>
                </a:solidFill>
                <a:latin typeface="Calibri"/>
                <a:cs typeface="Calibri"/>
              </a:rPr>
              <a:t>Security</a:t>
            </a:r>
            <a:r>
              <a:rPr dirty="0" spc="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pc="175">
                <a:solidFill>
                  <a:srgbClr val="151515"/>
                </a:solidFill>
                <a:latin typeface="Calibri"/>
                <a:cs typeface="Calibri"/>
              </a:rPr>
              <a:t>vs</a:t>
            </a:r>
            <a:r>
              <a:rPr dirty="0" spc="-1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pc="210">
                <a:solidFill>
                  <a:srgbClr val="131313"/>
                </a:solidFill>
                <a:latin typeface="Calibri"/>
                <a:cs typeface="Calibri"/>
              </a:rPr>
              <a:t>Secure</a:t>
            </a:r>
            <a:r>
              <a:rPr dirty="0" spc="-11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pc="125">
                <a:solidFill>
                  <a:srgbClr val="181818"/>
                </a:solidFill>
                <a:latin typeface="Calibri"/>
                <a:cs typeface="Calibri"/>
              </a:rPr>
              <a:t>Guard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4357" y="5273788"/>
            <a:ext cx="449453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627287"/>
                </a:solidFill>
                <a:latin typeface="Arial"/>
                <a:cs typeface="Arial"/>
              </a:rPr>
              <a:t>Traditional</a:t>
            </a:r>
            <a:r>
              <a:rPr dirty="0" sz="2800" spc="370">
                <a:solidFill>
                  <a:srgbClr val="627287"/>
                </a:solidFill>
                <a:latin typeface="Arial"/>
                <a:cs typeface="Arial"/>
              </a:rPr>
              <a:t> </a:t>
            </a:r>
            <a:r>
              <a:rPr dirty="0" sz="2800" spc="90">
                <a:solidFill>
                  <a:srgbClr val="596D87"/>
                </a:solidFill>
                <a:latin typeface="Arial"/>
                <a:cs typeface="Arial"/>
              </a:rPr>
              <a:t>Watch</a:t>
            </a:r>
            <a:r>
              <a:rPr dirty="0" sz="2800" spc="25">
                <a:solidFill>
                  <a:srgbClr val="596D87"/>
                </a:solidFill>
                <a:latin typeface="Arial"/>
                <a:cs typeface="Arial"/>
              </a:rPr>
              <a:t> </a:t>
            </a:r>
            <a:r>
              <a:rPr dirty="0" sz="2800" spc="95">
                <a:solidFill>
                  <a:srgbClr val="707C90"/>
                </a:solidFill>
                <a:latin typeface="Arial"/>
                <a:cs typeface="Arial"/>
              </a:rPr>
              <a:t>Methods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9121" y="5841212"/>
            <a:ext cx="5551170" cy="183261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764"/>
              </a:spcBef>
              <a:tabLst>
                <a:tab pos="561975" algn="l"/>
              </a:tabLst>
            </a:pPr>
            <a:r>
              <a:rPr dirty="0" sz="2450" spc="60">
                <a:solidFill>
                  <a:srgbClr val="E24946"/>
                </a:solidFill>
                <a:latin typeface="Arial"/>
                <a:cs typeface="Arial"/>
              </a:rPr>
              <a:t>O</a:t>
            </a:r>
            <a:r>
              <a:rPr dirty="0" sz="2450">
                <a:solidFill>
                  <a:srgbClr val="E24946"/>
                </a:solidFill>
                <a:latin typeface="Arial"/>
                <a:cs typeface="Arial"/>
              </a:rPr>
              <a:t>	</a:t>
            </a:r>
            <a:r>
              <a:rPr dirty="0" sz="2450" spc="-45">
                <a:solidFill>
                  <a:srgbClr val="4B4B4B"/>
                </a:solidFill>
                <a:latin typeface="Arial"/>
                <a:cs typeface="Arial"/>
              </a:rPr>
              <a:t>Physical</a:t>
            </a:r>
            <a:r>
              <a:rPr dirty="0" sz="2450" spc="-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525252"/>
                </a:solidFill>
                <a:latin typeface="Arial"/>
                <a:cs typeface="Arial"/>
              </a:rPr>
              <a:t>gate</a:t>
            </a:r>
            <a:r>
              <a:rPr dirty="0" sz="2450" spc="-11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4B4B4B"/>
                </a:solidFill>
                <a:latin typeface="Arial"/>
                <a:cs typeface="Arial"/>
              </a:rPr>
              <a:t>visitor</a:t>
            </a:r>
            <a:r>
              <a:rPr dirty="0" sz="245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3D3D3D"/>
                </a:solidFill>
                <a:latin typeface="Arial"/>
                <a:cs typeface="Arial"/>
              </a:rPr>
              <a:t>books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  <a:tabLst>
                <a:tab pos="560070" algn="l"/>
              </a:tabLst>
            </a:pPr>
            <a:r>
              <a:rPr dirty="0" sz="2550" spc="-50">
                <a:solidFill>
                  <a:srgbClr val="E84942"/>
                </a:solidFill>
                <a:latin typeface="Arial"/>
                <a:cs typeface="Arial"/>
              </a:rPr>
              <a:t>O</a:t>
            </a:r>
            <a:r>
              <a:rPr dirty="0" sz="2550">
                <a:solidFill>
                  <a:srgbClr val="E84942"/>
                </a:solidFill>
                <a:latin typeface="Arial"/>
                <a:cs typeface="Arial"/>
              </a:rPr>
              <a:t>	</a:t>
            </a:r>
            <a:r>
              <a:rPr dirty="0" sz="2550" spc="-50">
                <a:solidFill>
                  <a:srgbClr val="4D4D4D"/>
                </a:solidFill>
                <a:latin typeface="Arial"/>
                <a:cs typeface="Arial"/>
              </a:rPr>
              <a:t>Unverified</a:t>
            </a:r>
            <a:r>
              <a:rPr dirty="0" sz="2550" spc="-7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2550" spc="-75">
                <a:solidFill>
                  <a:srgbClr val="494949"/>
                </a:solidFill>
                <a:latin typeface="Arial"/>
                <a:cs typeface="Arial"/>
              </a:rPr>
              <a:t>guard</a:t>
            </a:r>
            <a:r>
              <a:rPr dirty="0" sz="2550" spc="-1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35">
                <a:solidFill>
                  <a:srgbClr val="4B4B4B"/>
                </a:solidFill>
                <a:latin typeface="Arial"/>
                <a:cs typeface="Arial"/>
              </a:rPr>
              <a:t>patrol</a:t>
            </a:r>
            <a:r>
              <a:rPr dirty="0" sz="255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"/>
                <a:cs typeface="Arial"/>
              </a:rPr>
              <a:t>walks</a:t>
            </a:r>
            <a:endParaRPr sz="25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2010"/>
              </a:spcBef>
              <a:tabLst>
                <a:tab pos="563245" algn="l"/>
              </a:tabLst>
            </a:pPr>
            <a:r>
              <a:rPr dirty="0" sz="2300" spc="-50">
                <a:solidFill>
                  <a:srgbClr val="F43F4F"/>
                </a:solidFill>
                <a:latin typeface="Arial"/>
                <a:cs typeface="Arial"/>
              </a:rPr>
              <a:t>O</a:t>
            </a:r>
            <a:r>
              <a:rPr dirty="0" sz="2300">
                <a:solidFill>
                  <a:srgbClr val="F43F4F"/>
                </a:solidFill>
                <a:latin typeface="Arial"/>
                <a:cs typeface="Arial"/>
              </a:rPr>
              <a:t>	</a:t>
            </a:r>
            <a:r>
              <a:rPr dirty="0" sz="2300">
                <a:solidFill>
                  <a:srgbClr val="494949"/>
                </a:solidFill>
                <a:latin typeface="Arial"/>
                <a:cs typeface="Arial"/>
              </a:rPr>
              <a:t>Chaotic</a:t>
            </a:r>
            <a:r>
              <a:rPr dirty="0" sz="2300" spc="3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94949"/>
                </a:solidFill>
                <a:latin typeface="Arial"/>
                <a:cs typeface="Arial"/>
              </a:rPr>
              <a:t>chat</a:t>
            </a:r>
            <a:r>
              <a:rPr dirty="0" sz="2300" spc="2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94949"/>
                </a:solidFill>
                <a:latin typeface="Arial"/>
                <a:cs typeface="Arial"/>
              </a:rPr>
              <a:t>groups</a:t>
            </a:r>
            <a:r>
              <a:rPr dirty="0" sz="2300" spc="27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424242"/>
                </a:solidFill>
                <a:latin typeface="Arial"/>
                <a:cs typeface="Arial"/>
              </a:rPr>
              <a:t>for</a:t>
            </a:r>
            <a:r>
              <a:rPr dirty="0" sz="2300" spc="2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464646"/>
                </a:solidFill>
                <a:latin typeface="Arial"/>
                <a:cs typeface="Arial"/>
              </a:rPr>
              <a:t>emergencies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56707" y="5273788"/>
            <a:ext cx="5537835" cy="2388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1F56CA"/>
                </a:solidFill>
                <a:latin typeface="Arial"/>
                <a:cs typeface="Arial"/>
              </a:rPr>
              <a:t>Secure</a:t>
            </a:r>
            <a:r>
              <a:rPr dirty="0" sz="2800" spc="-155">
                <a:solidFill>
                  <a:srgbClr val="1F56CA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2667DF"/>
                </a:solidFill>
                <a:latin typeface="Arial"/>
                <a:cs typeface="Arial"/>
              </a:rPr>
              <a:t>Neighbourhood</a:t>
            </a:r>
            <a:r>
              <a:rPr dirty="0" sz="2800" spc="85">
                <a:solidFill>
                  <a:srgbClr val="2667DF"/>
                </a:solidFill>
                <a:latin typeface="Arial"/>
                <a:cs typeface="Arial"/>
              </a:rPr>
              <a:t> </a:t>
            </a:r>
            <a:r>
              <a:rPr dirty="0" sz="2800" spc="45">
                <a:solidFill>
                  <a:srgbClr val="2A64E6"/>
                </a:solidFill>
                <a:latin typeface="Arial"/>
                <a:cs typeface="Arial"/>
              </a:rPr>
              <a:t>Guard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25"/>
              </a:spcBef>
              <a:tabLst>
                <a:tab pos="563245" algn="l"/>
              </a:tabLst>
            </a:pPr>
            <a:r>
              <a:rPr dirty="0" sz="2200" spc="-50">
                <a:solidFill>
                  <a:srgbClr val="18A149"/>
                </a:solidFill>
                <a:latin typeface="Arial"/>
                <a:cs typeface="Arial"/>
              </a:rPr>
              <a:t>@</a:t>
            </a:r>
            <a:r>
              <a:rPr dirty="0" sz="2200">
                <a:solidFill>
                  <a:srgbClr val="18A149"/>
                </a:solidFill>
                <a:latin typeface="Arial"/>
                <a:cs typeface="Arial"/>
              </a:rPr>
              <a:t>	</a:t>
            </a:r>
            <a:r>
              <a:rPr dirty="0" sz="2200" spc="80">
                <a:latin typeface="Arial"/>
                <a:cs typeface="Arial"/>
              </a:rPr>
              <a:t>Contactless</a:t>
            </a:r>
            <a:r>
              <a:rPr dirty="0" sz="2200" spc="195"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182849"/>
                </a:solidFill>
                <a:latin typeface="Arial"/>
                <a:cs typeface="Arial"/>
              </a:rPr>
              <a:t>QR</a:t>
            </a:r>
            <a:r>
              <a:rPr dirty="0" sz="2200" spc="140">
                <a:solidFill>
                  <a:srgbClr val="182849"/>
                </a:solidFill>
                <a:latin typeface="Arial"/>
                <a:cs typeface="Arial"/>
              </a:rPr>
              <a:t> </a:t>
            </a:r>
            <a:r>
              <a:rPr dirty="0" sz="2200" spc="60">
                <a:solidFill>
                  <a:srgbClr val="16153F"/>
                </a:solidFill>
                <a:latin typeface="Arial"/>
                <a:cs typeface="Arial"/>
              </a:rPr>
              <a:t>gate </a:t>
            </a:r>
            <a:r>
              <a:rPr dirty="0" sz="2200" spc="60">
                <a:solidFill>
                  <a:srgbClr val="131313"/>
                </a:solidFill>
                <a:latin typeface="Arial"/>
                <a:cs typeface="Arial"/>
              </a:rPr>
              <a:t>clearances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82700"/>
              </a:lnSpc>
              <a:tabLst>
                <a:tab pos="558800" algn="l"/>
              </a:tabLst>
            </a:pPr>
            <a:r>
              <a:rPr dirty="0" sz="2200" spc="105">
                <a:solidFill>
                  <a:srgbClr val="1CA04B"/>
                </a:solidFill>
                <a:latin typeface="Arial"/>
                <a:cs typeface="Arial"/>
              </a:rPr>
              <a:t>@</a:t>
            </a:r>
            <a:r>
              <a:rPr dirty="0" sz="2200">
                <a:solidFill>
                  <a:srgbClr val="1CA04B"/>
                </a:solidFill>
                <a:latin typeface="Arial"/>
                <a:cs typeface="Arial"/>
              </a:rPr>
              <a:t>	</a:t>
            </a:r>
            <a:r>
              <a:rPr dirty="0" sz="2200" spc="-590">
                <a:solidFill>
                  <a:srgbClr val="1CA04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001834"/>
                </a:solidFill>
                <a:latin typeface="Arial"/>
                <a:cs typeface="Arial"/>
              </a:rPr>
              <a:t>GPS</a:t>
            </a:r>
            <a:r>
              <a:rPr dirty="0" sz="2200" spc="95">
                <a:solidFill>
                  <a:srgbClr val="00183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131313"/>
                </a:solidFill>
                <a:latin typeface="Arial"/>
                <a:cs typeface="Arial"/>
              </a:rPr>
              <a:t>&amp;</a:t>
            </a:r>
            <a:r>
              <a:rPr dirty="0" sz="2200" spc="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0A163D"/>
                </a:solidFill>
                <a:latin typeface="Arial"/>
                <a:cs typeface="Arial"/>
              </a:rPr>
              <a:t>NFC</a:t>
            </a:r>
            <a:r>
              <a:rPr dirty="0" sz="2200" spc="80">
                <a:solidFill>
                  <a:srgbClr val="0A163D"/>
                </a:solidFill>
                <a:latin typeface="Arial"/>
                <a:cs typeface="Arial"/>
              </a:rPr>
              <a:t> </a:t>
            </a:r>
            <a:r>
              <a:rPr dirty="0" sz="2200" spc="80">
                <a:solidFill>
                  <a:srgbClr val="0C0C0C"/>
                </a:solidFill>
                <a:latin typeface="Arial"/>
                <a:cs typeface="Arial"/>
              </a:rPr>
              <a:t>guaranteed </a:t>
            </a:r>
            <a:r>
              <a:rPr dirty="0" sz="2200" spc="85">
                <a:solidFill>
                  <a:srgbClr val="0C0C0C"/>
                </a:solidFill>
                <a:latin typeface="Arial"/>
                <a:cs typeface="Arial"/>
              </a:rPr>
              <a:t>patrol </a:t>
            </a:r>
            <a:r>
              <a:rPr dirty="0" sz="2200" spc="100">
                <a:solidFill>
                  <a:srgbClr val="151515"/>
                </a:solidFill>
                <a:latin typeface="Arial"/>
                <a:cs typeface="Arial"/>
              </a:rPr>
              <a:t>routes </a:t>
            </a:r>
            <a:r>
              <a:rPr dirty="0" sz="2200" spc="195">
                <a:solidFill>
                  <a:srgbClr val="15A34B"/>
                </a:solidFill>
                <a:latin typeface="Arial"/>
                <a:cs typeface="Arial"/>
              </a:rPr>
              <a:t>@</a:t>
            </a:r>
            <a:r>
              <a:rPr dirty="0" sz="2200">
                <a:solidFill>
                  <a:srgbClr val="15A34B"/>
                </a:solidFill>
                <a:latin typeface="Arial"/>
                <a:cs typeface="Arial"/>
              </a:rPr>
              <a:t>	</a:t>
            </a:r>
            <a:r>
              <a:rPr dirty="0" sz="2200" spc="80">
                <a:solidFill>
                  <a:srgbClr val="131313"/>
                </a:solidFill>
                <a:latin typeface="Arial"/>
                <a:cs typeface="Arial"/>
              </a:rPr>
              <a:t>Instant</a:t>
            </a:r>
            <a:r>
              <a:rPr dirty="0" sz="2200" spc="16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200" spc="114">
                <a:solidFill>
                  <a:srgbClr val="0C0C0C"/>
                </a:solidFill>
                <a:latin typeface="Arial"/>
                <a:cs typeface="Arial"/>
              </a:rPr>
              <a:t>one-</a:t>
            </a:r>
            <a:r>
              <a:rPr dirty="0" sz="2200" spc="110">
                <a:solidFill>
                  <a:srgbClr val="0C0C0C"/>
                </a:solidFill>
                <a:latin typeface="Arial"/>
                <a:cs typeface="Arial"/>
              </a:rPr>
              <a:t>touch</a:t>
            </a:r>
            <a:r>
              <a:rPr dirty="0" sz="2200" spc="17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200" spc="80">
                <a:latin typeface="Arial"/>
                <a:cs typeface="Arial"/>
              </a:rPr>
              <a:t>panic</a:t>
            </a:r>
            <a:r>
              <a:rPr dirty="0" sz="2200" spc="195">
                <a:latin typeface="Arial"/>
                <a:cs typeface="Arial"/>
              </a:rPr>
              <a:t> </a:t>
            </a:r>
            <a:r>
              <a:rPr dirty="0" sz="2200" spc="75">
                <a:solidFill>
                  <a:srgbClr val="070707"/>
                </a:solidFill>
                <a:latin typeface="Arial"/>
                <a:cs typeface="Arial"/>
              </a:rPr>
              <a:t>dispatch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38150" y="849839"/>
            <a:ext cx="23094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0">
                <a:solidFill>
                  <a:srgbClr val="346EB6"/>
                </a:solidFill>
                <a:latin typeface="Arial"/>
                <a:cs typeface="Arial"/>
              </a:rPr>
              <a:t>I</a:t>
            </a:r>
            <a:r>
              <a:rPr dirty="0" sz="1800" spc="130">
                <a:solidFill>
                  <a:srgbClr val="0F59E6"/>
                </a:solidFill>
                <a:latin typeface="Arial"/>
                <a:cs typeface="Arial"/>
              </a:rPr>
              <a:t>M</a:t>
            </a:r>
            <a:r>
              <a:rPr dirty="0" sz="1800" spc="130">
                <a:solidFill>
                  <a:srgbClr val="2D6BDA"/>
                </a:solidFill>
                <a:latin typeface="Arial"/>
                <a:cs typeface="Arial"/>
              </a:rPr>
              <a:t>P</a:t>
            </a:r>
            <a:r>
              <a:rPr dirty="0" sz="1800" spc="-280">
                <a:solidFill>
                  <a:srgbClr val="2D6BDA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3164EB"/>
                </a:solidFill>
                <a:latin typeface="Arial"/>
                <a:cs typeface="Arial"/>
              </a:rPr>
              <a:t>LE</a:t>
            </a:r>
            <a:r>
              <a:rPr dirty="0" sz="1800" spc="-290">
                <a:solidFill>
                  <a:srgbClr val="3164EB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15BDD"/>
                </a:solidFill>
                <a:latin typeface="Arial"/>
                <a:cs typeface="Arial"/>
              </a:rPr>
              <a:t>M</a:t>
            </a:r>
            <a:r>
              <a:rPr dirty="0" sz="1800">
                <a:solidFill>
                  <a:srgbClr val="366BFF"/>
                </a:solidFill>
                <a:latin typeface="Arial"/>
                <a:cs typeface="Arial"/>
              </a:rPr>
              <a:t>E</a:t>
            </a:r>
            <a:r>
              <a:rPr dirty="0" sz="1800" spc="-265">
                <a:solidFill>
                  <a:srgbClr val="366B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35ED8"/>
                </a:solidFill>
                <a:latin typeface="Arial"/>
                <a:cs typeface="Arial"/>
              </a:rPr>
              <a:t>N</a:t>
            </a:r>
            <a:r>
              <a:rPr dirty="0" sz="1800" spc="-204">
                <a:solidFill>
                  <a:srgbClr val="235ED8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870C3"/>
                </a:solidFill>
                <a:latin typeface="Arial"/>
                <a:cs typeface="Arial"/>
              </a:rPr>
              <a:t>TAT</a:t>
            </a:r>
            <a:r>
              <a:rPr dirty="0" sz="1800" spc="-265">
                <a:solidFill>
                  <a:srgbClr val="4870C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65BC6"/>
                </a:solidFill>
                <a:latin typeface="Arial"/>
                <a:cs typeface="Arial"/>
              </a:rPr>
              <a:t>10</a:t>
            </a:r>
            <a:r>
              <a:rPr dirty="0" sz="1800" spc="-235">
                <a:solidFill>
                  <a:srgbClr val="365BC6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2162D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7620">
              <a:lnSpc>
                <a:spcPct val="100000"/>
              </a:lnSpc>
              <a:spcBef>
                <a:spcPts val="114"/>
              </a:spcBef>
            </a:pPr>
            <a:r>
              <a:rPr dirty="0" spc="-110">
                <a:solidFill>
                  <a:srgbClr val="161616"/>
                </a:solidFill>
              </a:rPr>
              <a:t>Rapid</a:t>
            </a:r>
            <a:r>
              <a:rPr dirty="0" spc="-550">
                <a:solidFill>
                  <a:srgbClr val="161616"/>
                </a:solidFill>
              </a:rPr>
              <a:t> </a:t>
            </a:r>
            <a:r>
              <a:rPr dirty="0" spc="140"/>
              <a:t>3-</a:t>
            </a:r>
            <a:r>
              <a:rPr dirty="0" spc="165"/>
              <a:t>Step</a:t>
            </a:r>
            <a:r>
              <a:rPr dirty="0" spc="-370"/>
              <a:t> </a:t>
            </a:r>
            <a:r>
              <a:rPr dirty="0" spc="-35"/>
              <a:t>Neighborhood</a:t>
            </a:r>
            <a:r>
              <a:rPr dirty="0" spc="-190"/>
              <a:t> </a:t>
            </a:r>
            <a:r>
              <a:rPr dirty="0" spc="-50">
                <a:solidFill>
                  <a:srgbClr val="151515"/>
                </a:solidFill>
              </a:rPr>
              <a:t>Rollout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3402" y="5591452"/>
            <a:ext cx="534015" cy="40051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1072" y="5552187"/>
            <a:ext cx="588987" cy="4711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97580" y="6198026"/>
            <a:ext cx="4288155" cy="137350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2950" spc="-130">
                <a:solidFill>
                  <a:srgbClr val="161616"/>
                </a:solidFill>
                <a:latin typeface="Arial"/>
                <a:cs typeface="Arial"/>
              </a:rPr>
              <a:t>1.</a:t>
            </a:r>
            <a:r>
              <a:rPr dirty="0" sz="2950" spc="-19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F0F0F"/>
                </a:solidFill>
                <a:latin typeface="Arial"/>
                <a:cs typeface="Arial"/>
              </a:rPr>
              <a:t>Sector</a:t>
            </a:r>
            <a:r>
              <a:rPr dirty="0" sz="2950" spc="-13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950" spc="45">
                <a:solidFill>
                  <a:srgbClr val="0F0F0F"/>
                </a:solidFill>
                <a:latin typeface="Arial"/>
                <a:cs typeface="Arial"/>
              </a:rPr>
              <a:t>Mapping</a:t>
            </a:r>
            <a:endParaRPr sz="2950">
              <a:latin typeface="Arial"/>
              <a:cs typeface="Arial"/>
            </a:endParaRPr>
          </a:p>
          <a:p>
            <a:pPr marL="49530" marR="5080" indent="-3175">
              <a:lnSpc>
                <a:spcPts val="2600"/>
              </a:lnSpc>
              <a:spcBef>
                <a:spcPts val="975"/>
              </a:spcBef>
            </a:pPr>
            <a:r>
              <a:rPr dirty="0" sz="2300">
                <a:solidFill>
                  <a:srgbClr val="696969"/>
                </a:solidFill>
                <a:latin typeface="Arial"/>
                <a:cs typeface="Arial"/>
              </a:rPr>
              <a:t>Configure</a:t>
            </a:r>
            <a:r>
              <a:rPr dirty="0" sz="2300" spc="57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E6E6E"/>
                </a:solidFill>
                <a:latin typeface="Arial"/>
                <a:cs typeface="Arial"/>
              </a:rPr>
              <a:t>perimeter</a:t>
            </a:r>
            <a:r>
              <a:rPr dirty="0" sz="2300" spc="-10">
                <a:solidFill>
                  <a:srgbClr val="6E6E6E"/>
                </a:solidFill>
                <a:latin typeface="Arial"/>
                <a:cs typeface="Arial"/>
              </a:rPr>
              <a:t>  </a:t>
            </a:r>
            <a:r>
              <a:rPr dirty="0" sz="2300">
                <a:solidFill>
                  <a:srgbClr val="697585"/>
                </a:solidFill>
                <a:latin typeface="Arial"/>
                <a:cs typeface="Arial"/>
              </a:rPr>
              <a:t>zones</a:t>
            </a:r>
            <a:r>
              <a:rPr dirty="0" sz="2300" spc="530">
                <a:solidFill>
                  <a:srgbClr val="697585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667499"/>
                </a:solidFill>
                <a:latin typeface="Arial"/>
                <a:cs typeface="Arial"/>
              </a:rPr>
              <a:t>and </a:t>
            </a:r>
            <a:r>
              <a:rPr dirty="0" sz="2300">
                <a:solidFill>
                  <a:srgbClr val="79899E"/>
                </a:solidFill>
                <a:latin typeface="Arial"/>
                <a:cs typeface="Arial"/>
              </a:rPr>
              <a:t>install</a:t>
            </a:r>
            <a:r>
              <a:rPr dirty="0" sz="2300" spc="-50">
                <a:solidFill>
                  <a:srgbClr val="79899E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6E7587"/>
                </a:solidFill>
                <a:latin typeface="Arial"/>
                <a:cs typeface="Arial"/>
              </a:rPr>
              <a:t>NFC</a:t>
            </a:r>
            <a:r>
              <a:rPr dirty="0" sz="2300" spc="30">
                <a:solidFill>
                  <a:srgbClr val="6E7587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6B6B6B"/>
                </a:solidFill>
                <a:latin typeface="Arial"/>
                <a:cs typeface="Arial"/>
              </a:rPr>
              <a:t>markers.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3416" y="6240761"/>
            <a:ext cx="3736340" cy="13341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800" spc="55">
                <a:solidFill>
                  <a:srgbClr val="111111"/>
                </a:solidFill>
                <a:latin typeface="Arial"/>
                <a:cs typeface="Arial"/>
              </a:rPr>
              <a:t>2.</a:t>
            </a:r>
            <a:r>
              <a:rPr dirty="0" sz="2800" spc="-20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800" spc="70">
                <a:solidFill>
                  <a:srgbClr val="181818"/>
                </a:solidFill>
                <a:latin typeface="Arial"/>
                <a:cs typeface="Arial"/>
              </a:rPr>
              <a:t>Guard</a:t>
            </a:r>
            <a:r>
              <a:rPr dirty="0" sz="2800" spc="-16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111111"/>
                </a:solidFill>
                <a:latin typeface="Arial"/>
                <a:cs typeface="Arial"/>
              </a:rPr>
              <a:t>Onboarding</a:t>
            </a:r>
            <a:endParaRPr sz="2800">
              <a:latin typeface="Arial"/>
              <a:cs typeface="Arial"/>
            </a:endParaRPr>
          </a:p>
          <a:p>
            <a:pPr marL="21590" marR="5080" indent="-5715">
              <a:lnSpc>
                <a:spcPts val="2600"/>
              </a:lnSpc>
              <a:spcBef>
                <a:spcPts val="1010"/>
              </a:spcBef>
            </a:pPr>
            <a:r>
              <a:rPr dirty="0" sz="2450" spc="-75">
                <a:solidFill>
                  <a:srgbClr val="647487"/>
                </a:solidFill>
                <a:latin typeface="Arial"/>
                <a:cs typeface="Arial"/>
              </a:rPr>
              <a:t>Train</a:t>
            </a:r>
            <a:r>
              <a:rPr dirty="0" sz="2450" spc="-20">
                <a:solidFill>
                  <a:srgbClr val="647487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77985"/>
                </a:solidFill>
                <a:latin typeface="Arial"/>
                <a:cs typeface="Arial"/>
              </a:rPr>
              <a:t>patrol</a:t>
            </a:r>
            <a:r>
              <a:rPr dirty="0" sz="2450" spc="-75">
                <a:solidFill>
                  <a:srgbClr val="677985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707070"/>
                </a:solidFill>
                <a:latin typeface="Arial"/>
                <a:cs typeface="Arial"/>
              </a:rPr>
              <a:t>officers</a:t>
            </a:r>
            <a:r>
              <a:rPr dirty="0" sz="2450" spc="4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797979"/>
                </a:solidFill>
                <a:latin typeface="Arial"/>
                <a:cs typeface="Arial"/>
              </a:rPr>
              <a:t>on</a:t>
            </a:r>
            <a:r>
              <a:rPr dirty="0" sz="2450" spc="-35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dirty="0" sz="2450" spc="-35">
                <a:solidFill>
                  <a:srgbClr val="707983"/>
                </a:solidFill>
                <a:latin typeface="Arial"/>
                <a:cs typeface="Arial"/>
              </a:rPr>
              <a:t>gate </a:t>
            </a:r>
            <a:r>
              <a:rPr dirty="0" sz="2450" spc="-35">
                <a:solidFill>
                  <a:srgbClr val="70778E"/>
                </a:solidFill>
                <a:latin typeface="Arial"/>
                <a:cs typeface="Arial"/>
              </a:rPr>
              <a:t>scanner</a:t>
            </a:r>
            <a:r>
              <a:rPr dirty="0" sz="2450" spc="-30">
                <a:solidFill>
                  <a:srgbClr val="70778E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606060"/>
                </a:solidFill>
                <a:latin typeface="Arial"/>
                <a:cs typeface="Arial"/>
              </a:rPr>
              <a:t>devices.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91762" y="4879821"/>
            <a:ext cx="4423410" cy="2694940"/>
          </a:xfrm>
          <a:prstGeom prst="rect">
            <a:avLst/>
          </a:prstGeom>
        </p:spPr>
        <p:txBody>
          <a:bodyPr wrap="square" lIns="0" tIns="362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5"/>
              </a:spcBef>
            </a:pPr>
            <a:r>
              <a:rPr dirty="0" sz="6150" spc="-50">
                <a:solidFill>
                  <a:srgbClr val="1CA34B"/>
                </a:solidFill>
                <a:latin typeface="OCR A Extended"/>
                <a:cs typeface="OCR A Extended"/>
              </a:rPr>
              <a:t>0</a:t>
            </a:r>
            <a:endParaRPr sz="6150">
              <a:latin typeface="OCR A Extended"/>
              <a:cs typeface="OCR A Extended"/>
            </a:endParaRPr>
          </a:p>
          <a:p>
            <a:pPr marL="72390">
              <a:lnSpc>
                <a:spcPct val="100000"/>
              </a:lnSpc>
              <a:spcBef>
                <a:spcPts val="1285"/>
              </a:spcBef>
            </a:pPr>
            <a:r>
              <a:rPr dirty="0" sz="2800">
                <a:solidFill>
                  <a:srgbClr val="0A0A0A"/>
                </a:solidFill>
                <a:latin typeface="Calibri"/>
                <a:cs typeface="Calibri"/>
              </a:rPr>
              <a:t>3.</a:t>
            </a:r>
            <a:r>
              <a:rPr dirty="0" sz="2800" spc="31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800" spc="190">
                <a:solidFill>
                  <a:srgbClr val="181818"/>
                </a:solidFill>
                <a:latin typeface="Calibri"/>
                <a:cs typeface="Calibri"/>
              </a:rPr>
              <a:t>Resident</a:t>
            </a:r>
            <a:r>
              <a:rPr dirty="0" sz="2800" spc="-6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800" spc="225">
                <a:solidFill>
                  <a:srgbClr val="131313"/>
                </a:solidFill>
                <a:latin typeface="Calibri"/>
                <a:cs typeface="Calibri"/>
              </a:rPr>
              <a:t>Launch</a:t>
            </a:r>
            <a:endParaRPr sz="2800">
              <a:latin typeface="Calibri"/>
              <a:cs typeface="Calibri"/>
            </a:endParaRPr>
          </a:p>
          <a:p>
            <a:pPr marL="78740" marR="5080" indent="-5080">
              <a:lnSpc>
                <a:spcPts val="2600"/>
              </a:lnSpc>
              <a:spcBef>
                <a:spcPts val="1070"/>
              </a:spcBef>
            </a:pPr>
            <a:r>
              <a:rPr dirty="0" sz="2450" spc="-35">
                <a:solidFill>
                  <a:srgbClr val="727272"/>
                </a:solidFill>
                <a:latin typeface="Arial"/>
                <a:cs typeface="Arial"/>
              </a:rPr>
              <a:t>Provide</a:t>
            </a:r>
            <a:r>
              <a:rPr dirty="0" sz="2450" spc="-3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2450" spc="-40">
                <a:solidFill>
                  <a:srgbClr val="646464"/>
                </a:solidFill>
                <a:latin typeface="Arial"/>
                <a:cs typeface="Arial"/>
              </a:rPr>
              <a:t>digital</a:t>
            </a:r>
            <a:r>
              <a:rPr dirty="0" sz="2450" spc="-135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757575"/>
                </a:solidFill>
                <a:latin typeface="Arial"/>
                <a:cs typeface="Arial"/>
              </a:rPr>
              <a:t>household</a:t>
            </a:r>
            <a:r>
              <a:rPr dirty="0" sz="2450" spc="-5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28295"/>
                </a:solidFill>
                <a:latin typeface="Arial"/>
                <a:cs typeface="Arial"/>
              </a:rPr>
              <a:t>invites </a:t>
            </a:r>
            <a:r>
              <a:rPr dirty="0" sz="2450" spc="-40">
                <a:solidFill>
                  <a:srgbClr val="677280"/>
                </a:solidFill>
                <a:latin typeface="Arial"/>
                <a:cs typeface="Arial"/>
              </a:rPr>
              <a:t>and</a:t>
            </a:r>
            <a:r>
              <a:rPr dirty="0" sz="2450" spc="-130">
                <a:solidFill>
                  <a:srgbClr val="677280"/>
                </a:solidFill>
                <a:latin typeface="Arial"/>
                <a:cs typeface="Arial"/>
              </a:rPr>
              <a:t> </a:t>
            </a:r>
            <a:r>
              <a:rPr dirty="0" sz="2450" spc="-30">
                <a:solidFill>
                  <a:srgbClr val="647585"/>
                </a:solidFill>
                <a:latin typeface="Arial"/>
                <a:cs typeface="Arial"/>
              </a:rPr>
              <a:t>access</a:t>
            </a:r>
            <a:r>
              <a:rPr dirty="0" sz="2450" spc="-40">
                <a:solidFill>
                  <a:srgbClr val="647585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797E93"/>
                </a:solidFill>
                <a:latin typeface="Arial"/>
                <a:cs typeface="Arial"/>
              </a:rPr>
              <a:t>keys.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06" y="3015614"/>
            <a:ext cx="20088860" cy="707390"/>
            <a:chOff x="15706" y="3015614"/>
            <a:chExt cx="20088860" cy="707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3015614"/>
              <a:ext cx="20088393" cy="7067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3015614"/>
              <a:ext cx="20088393" cy="706784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5706" y="4256414"/>
            <a:ext cx="20080605" cy="730885"/>
          </a:xfrm>
          <a:custGeom>
            <a:avLst/>
            <a:gdLst/>
            <a:ahLst/>
            <a:cxnLst/>
            <a:rect l="l" t="t" r="r" b="b"/>
            <a:pathLst>
              <a:path w="20080605" h="730885">
                <a:moveTo>
                  <a:pt x="20080541" y="730344"/>
                </a:moveTo>
                <a:lnTo>
                  <a:pt x="0" y="73034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30344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09233" y="3966890"/>
            <a:ext cx="11257915" cy="1026794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50" spc="175">
                <a:solidFill>
                  <a:srgbClr val="FFFFFF"/>
                </a:solidFill>
                <a:latin typeface="Calibri"/>
                <a:cs typeface="Calibri"/>
              </a:rPr>
              <a:t>Empower</a:t>
            </a:r>
            <a:r>
              <a:rPr dirty="0" sz="65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5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sz="6550" spc="-3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50" spc="165">
                <a:solidFill>
                  <a:srgbClr val="FFFFFF"/>
                </a:solidFill>
                <a:latin typeface="Calibri"/>
                <a:cs typeface="Calibri"/>
              </a:rPr>
              <a:t>Community</a:t>
            </a:r>
            <a:r>
              <a:rPr dirty="0" sz="65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50" spc="15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65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06" y="5120263"/>
            <a:ext cx="20080605" cy="730885"/>
          </a:xfrm>
          <a:custGeom>
            <a:avLst/>
            <a:gdLst/>
            <a:ahLst/>
            <a:cxnLst/>
            <a:rect l="l" t="t" r="r" b="b"/>
            <a:pathLst>
              <a:path w="20080605" h="730885">
                <a:moveTo>
                  <a:pt x="20080541" y="730344"/>
                </a:moveTo>
                <a:lnTo>
                  <a:pt x="0" y="73034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30344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30099" y="4830738"/>
            <a:ext cx="6190615" cy="10267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50" spc="21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6550" spc="26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6550" spc="-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50" spc="285">
                <a:solidFill>
                  <a:srgbClr val="FFFFFF"/>
                </a:solidFill>
                <a:latin typeface="Calibri"/>
                <a:cs typeface="Calibri"/>
              </a:rPr>
              <a:t>Safety</a:t>
            </a:r>
            <a:endParaRPr sz="65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706" y="612546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706" y="6502420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706" y="7429093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A1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61395" y="6029000"/>
            <a:ext cx="8152765" cy="169989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2065" marR="5080">
              <a:lnSpc>
                <a:spcPts val="2970"/>
              </a:lnSpc>
              <a:spcBef>
                <a:spcPts val="300"/>
              </a:spcBef>
            </a:pPr>
            <a:r>
              <a:rPr dirty="0" sz="2550" spc="-10">
                <a:solidFill>
                  <a:srgbClr val="AFAFAF"/>
                </a:solidFill>
                <a:latin typeface="Arial"/>
                <a:cs typeface="Arial"/>
              </a:rPr>
              <a:t>Ready</a:t>
            </a:r>
            <a:r>
              <a:rPr dirty="0" sz="2550" spc="33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2550" spc="70">
                <a:solidFill>
                  <a:srgbClr val="ACACAC"/>
                </a:solidFill>
                <a:latin typeface="Arial"/>
                <a:cs typeface="Arial"/>
              </a:rPr>
              <a:t>to</a:t>
            </a:r>
            <a:r>
              <a:rPr dirty="0" sz="2550" spc="145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93A5B8"/>
                </a:solidFill>
                <a:latin typeface="Arial"/>
                <a:cs typeface="Arial"/>
              </a:rPr>
              <a:t>deploy</a:t>
            </a:r>
            <a:r>
              <a:rPr dirty="0" sz="2550" spc="340">
                <a:solidFill>
                  <a:srgbClr val="93A5B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ACACAC"/>
                </a:solidFill>
                <a:latin typeface="Arial"/>
                <a:cs typeface="Arial"/>
              </a:rPr>
              <a:t>Secure</a:t>
            </a:r>
            <a:r>
              <a:rPr dirty="0" sz="2550" spc="370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AEAEAE"/>
                </a:solidFill>
                <a:latin typeface="Arial"/>
                <a:cs typeface="Arial"/>
              </a:rPr>
              <a:t>Neighbourhood</a:t>
            </a:r>
            <a:r>
              <a:rPr dirty="0" sz="2550" spc="390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A5A5A5"/>
                </a:solidFill>
                <a:latin typeface="Arial"/>
                <a:cs typeface="Arial"/>
              </a:rPr>
              <a:t>Guard</a:t>
            </a:r>
            <a:r>
              <a:rPr dirty="0" sz="2550" spc="18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2550" spc="70">
                <a:solidFill>
                  <a:srgbClr val="010F2A"/>
                </a:solidFill>
                <a:latin typeface="Arial"/>
                <a:cs typeface="Arial"/>
              </a:rPr>
              <a:t>to</a:t>
            </a:r>
            <a:r>
              <a:rPr dirty="0" sz="2550" spc="195">
                <a:solidFill>
                  <a:srgbClr val="010F2A"/>
                </a:solidFill>
                <a:latin typeface="Arial"/>
                <a:cs typeface="Arial"/>
              </a:rPr>
              <a:t> </a:t>
            </a:r>
            <a:r>
              <a:rPr dirty="0" sz="2550" spc="-20">
                <a:solidFill>
                  <a:srgbClr val="ACACAC"/>
                </a:solidFill>
                <a:latin typeface="Arial"/>
                <a:cs typeface="Arial"/>
              </a:rPr>
              <a:t>your </a:t>
            </a:r>
            <a:r>
              <a:rPr dirty="0" sz="2550">
                <a:solidFill>
                  <a:srgbClr val="A5A5A5"/>
                </a:solidFill>
                <a:latin typeface="Arial"/>
                <a:cs typeface="Arial"/>
              </a:rPr>
              <a:t>residential</a:t>
            </a:r>
            <a:r>
              <a:rPr dirty="0" sz="2550" spc="490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A8A8A8"/>
                </a:solidFill>
                <a:latin typeface="Arial"/>
                <a:cs typeface="Arial"/>
              </a:rPr>
              <a:t>estate</a:t>
            </a:r>
            <a:r>
              <a:rPr dirty="0" sz="2550" spc="540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8E9AB1"/>
                </a:solidFill>
                <a:latin typeface="Arial"/>
                <a:cs typeface="Arial"/>
              </a:rPr>
              <a:t>or</a:t>
            </a:r>
            <a:r>
              <a:rPr dirty="0" sz="2550" spc="430">
                <a:solidFill>
                  <a:srgbClr val="8E9AB1"/>
                </a:solidFill>
                <a:latin typeface="Arial"/>
                <a:cs typeface="Arial"/>
              </a:rPr>
              <a:t> </a:t>
            </a:r>
            <a:r>
              <a:rPr dirty="0" sz="2550" spc="-20">
                <a:solidFill>
                  <a:srgbClr val="67697C"/>
                </a:solidFill>
                <a:latin typeface="Arial"/>
                <a:cs typeface="Arial"/>
              </a:rPr>
              <a:t>HOA?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255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2300" spc="95">
                <a:solidFill>
                  <a:srgbClr val="69ACC8"/>
                </a:solidFill>
                <a:latin typeface="Arial"/>
                <a:cs typeface="Arial"/>
              </a:rPr>
              <a:t>secure-</a:t>
            </a:r>
            <a:r>
              <a:rPr dirty="0" sz="2300" spc="100">
                <a:solidFill>
                  <a:srgbClr val="69ACC8"/>
                </a:solidFill>
                <a:latin typeface="Arial"/>
                <a:cs typeface="Arial"/>
              </a:rPr>
              <a:t>neighbor</a:t>
            </a:r>
            <a:r>
              <a:rPr dirty="0" sz="2300" spc="-185">
                <a:solidFill>
                  <a:srgbClr val="69ACC8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69ACC8"/>
                </a:solidFill>
                <a:latin typeface="Arial"/>
                <a:cs typeface="Arial"/>
              </a:rPr>
              <a:t>rhood-guard.</a:t>
            </a:r>
            <a:r>
              <a:rPr dirty="0" sz="2300" spc="-320">
                <a:solidFill>
                  <a:srgbClr val="69ACC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3DACD3"/>
                </a:solidFill>
                <a:latin typeface="Arial"/>
                <a:cs typeface="Arial"/>
              </a:rPr>
              <a:t>lovable.app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15091" y="913318"/>
            <a:ext cx="2762885" cy="5162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>
                <a:solidFill>
                  <a:srgbClr val="242424"/>
                </a:solidFill>
              </a:rPr>
              <a:t>Image</a:t>
            </a:r>
            <a:r>
              <a:rPr dirty="0" sz="3200" spc="-125">
                <a:solidFill>
                  <a:srgbClr val="242424"/>
                </a:solidFill>
              </a:rPr>
              <a:t> </a:t>
            </a:r>
            <a:r>
              <a:rPr dirty="0" sz="3200" spc="-10">
                <a:solidFill>
                  <a:srgbClr val="212121"/>
                </a:solidFill>
              </a:rPr>
              <a:t>Sources</a:t>
            </a:r>
            <a:endParaRPr sz="32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2723" y="1680577"/>
            <a:ext cx="683225" cy="753903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73792" y="1701860"/>
          <a:ext cx="18295620" cy="1948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80"/>
                <a:gridCol w="699134"/>
                <a:gridCol w="16867505"/>
              </a:tblGrid>
              <a:tr h="940435">
                <a:tc>
                  <a:txBody>
                    <a:bodyPr/>
                    <a:lstStyle/>
                    <a:p>
                      <a:pPr marL="79375">
                        <a:lnSpc>
                          <a:spcPts val="2130"/>
                        </a:lnSpc>
                      </a:pPr>
                      <a:r>
                        <a:rPr dirty="0" sz="1900" spc="-50">
                          <a:latin typeface="Arial"/>
                          <a:cs typeface="Arial"/>
                        </a:rPr>
                        <a:t>%</a:t>
                      </a:r>
                      <a:endParaRPr sz="1900">
                        <a:latin typeface="Arial"/>
                        <a:cs typeface="Arial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900">
                          <a:solidFill>
                            <a:srgbClr val="AC91E1"/>
                          </a:solidFill>
                          <a:latin typeface="Arial"/>
                          <a:cs typeface="Arial"/>
                        </a:rPr>
                        <a:t>°</a:t>
                      </a:r>
                      <a:r>
                        <a:rPr dirty="0" sz="1900" spc="75">
                          <a:solidFill>
                            <a:srgbClr val="AC91E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00" spc="-440">
                          <a:solidFill>
                            <a:srgbClr val="B18CEB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dirty="0" sz="1900" spc="-290">
                          <a:solidFill>
                            <a:srgbClr val="B18CE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00" spc="-50">
                          <a:solidFill>
                            <a:srgbClr val="B18CEB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28575">
                      <a:solidFill>
                        <a:srgbClr val="7474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2130"/>
                        </a:lnSpc>
                      </a:pPr>
                      <a:r>
                        <a:rPr dirty="0" sz="1900" spc="-25">
                          <a:solidFill>
                            <a:srgbClr val="6B6B6B"/>
                          </a:solidFill>
                          <a:latin typeface="Arial"/>
                          <a:cs typeface="Arial"/>
                        </a:rPr>
                        <a:t>””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28575">
                      <a:solidFill>
                        <a:srgbClr val="7474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2275">
                        <a:lnSpc>
                          <a:spcPts val="2130"/>
                        </a:lnSpc>
                      </a:pPr>
                      <a:r>
                        <a:rPr dirty="0" sz="1900" spc="-95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https:||pIay-</a:t>
                      </a:r>
                      <a:r>
                        <a:rPr dirty="0" sz="1900" spc="-125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Ih.googIeusercontent.com/xf4FYtDsQkfI55N7ISMqQhCWrFC4gPzLGG-</a:t>
                      </a:r>
                      <a:r>
                        <a:rPr dirty="0" sz="1900" spc="-135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_cIhC7EnrVs4rYD65HZeB_w2N1EU2pLIje60tpNaGVY_m9p8puQ=w526-</a:t>
                      </a:r>
                      <a:r>
                        <a:rPr dirty="0" sz="1900" spc="-120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h296-</a:t>
                      </a:r>
                      <a:r>
                        <a:rPr dirty="0" sz="1900" spc="-25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rw</a:t>
                      </a:r>
                      <a:endParaRPr sz="1900">
                        <a:latin typeface="Arial"/>
                        <a:cs typeface="Arial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900" spc="50">
                          <a:solidFill>
                            <a:srgbClr val="131313"/>
                          </a:solidFill>
                          <a:latin typeface="Arial"/>
                          <a:cs typeface="Arial"/>
                        </a:rPr>
                        <a:t>Source:</a:t>
                      </a:r>
                      <a:r>
                        <a:rPr dirty="0" sz="1900" spc="250">
                          <a:solidFill>
                            <a:srgbClr val="13131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00" spc="110">
                          <a:solidFill>
                            <a:srgbClr val="4F52B6"/>
                          </a:solidFill>
                          <a:latin typeface="Arial"/>
                          <a:cs typeface="Arial"/>
                        </a:rPr>
                        <a:t>play.google.com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28575">
                      <a:solidFill>
                        <a:srgbClr val="747474"/>
                      </a:solidFill>
                      <a:prstDash val="solid"/>
                    </a:lnB>
                  </a:tcPr>
                </a:tc>
              </a:tr>
              <a:tr h="10077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74747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74747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235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30">
                          <a:solidFill>
                            <a:srgbClr val="0E0E0E"/>
                          </a:solidFill>
                          <a:latin typeface="Arial"/>
                          <a:cs typeface="Arial"/>
                          <a:hlinkClick r:id="rId3"/>
                        </a:rPr>
                        <a:t>https://visionpIatform.ai/wp-content/uploads/2026/01/Control-room-</a:t>
                      </a:r>
                      <a:r>
                        <a:rPr dirty="0" sz="1800" spc="-25">
                          <a:solidFill>
                            <a:srgbClr val="0E0E0E"/>
                          </a:solidFill>
                          <a:latin typeface="Arial"/>
                          <a:cs typeface="Arial"/>
                          <a:hlinkClick r:id="rId3"/>
                        </a:rPr>
                        <a:t>with</a:t>
                      </a:r>
                      <a:r>
                        <a:rPr dirty="0" sz="1800" spc="-25">
                          <a:solidFill>
                            <a:srgbClr val="0E0E0E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800" spc="-30">
                          <a:solidFill>
                            <a:srgbClr val="0E0E0E"/>
                          </a:solidFill>
                          <a:latin typeface="Arial"/>
                          <a:cs typeface="Arial"/>
                        </a:rPr>
                        <a:t>camera-feeds-and-AI-</a:t>
                      </a:r>
                      <a:r>
                        <a:rPr dirty="0" sz="1800" spc="-10">
                          <a:solidFill>
                            <a:srgbClr val="0E0E0E"/>
                          </a:solidFill>
                          <a:latin typeface="Arial"/>
                          <a:cs typeface="Arial"/>
                        </a:rPr>
                        <a:t>dashboard.png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86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220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Source:</a:t>
                      </a:r>
                      <a:r>
                        <a:rPr dirty="0" sz="2200" spc="3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2200" spc="-10">
                          <a:solidFill>
                            <a:srgbClr val="5D4DDB"/>
                          </a:solidFill>
                          <a:latin typeface="Calibri"/>
                          <a:cs typeface="Calibri"/>
                        </a:rPr>
                        <a:t>visionplatform.ai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61594">
                    <a:lnT w="28575">
                      <a:solidFill>
                        <a:srgbClr val="74747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6673" y="2905670"/>
            <a:ext cx="1444982" cy="816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E0E0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2026-10-16T10:10:57Z</dcterms:created>
  <dcterms:modified xsi:type="dcterms:W3CDTF">2026-10-16T10:10:57Z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2026-10-16T00:00:00Z</vt:filetime>
  </property>
  <property fmtid="{D5CDD505-2E9C-101B-9397-08002B2CF9AE}" pid="4" name="LastSaved">
    <vt:filetime>2026-10-16T00:00:00Z</vt:filetime>
  </property>
</Properties>
</file>